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8"/>
  </p:notesMasterIdLst>
  <p:sldIdLst>
    <p:sldId id="256" r:id="rId2"/>
    <p:sldId id="257" r:id="rId3"/>
    <p:sldId id="292" r:id="rId4"/>
    <p:sldId id="286" r:id="rId5"/>
    <p:sldId id="293" r:id="rId6"/>
    <p:sldId id="294" r:id="rId7"/>
  </p:sldIdLst>
  <p:sldSz cx="21599525" cy="1079976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EAD3"/>
    <a:srgbClr val="D0E0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0" d="100"/>
          <a:sy n="50" d="100"/>
        </p:scale>
        <p:origin x="427" y="38"/>
      </p:cViewPr>
      <p:guideLst>
        <p:guide orient="horz" pos="3402"/>
        <p:guide pos="680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PT"/>
          </a:p>
        </p:txBody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850b307b58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PT"/>
          </a:p>
        </p:txBody>
      </p:sp>
      <p:sp>
        <p:nvSpPr>
          <p:cNvPr id="58" name="Google Shape;58;g3850b307b58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B3EB4518-A35C-AAF5-B374-955799C6F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854BC4E2-BEFF-BC9F-5308-59020C44E8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PT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29DF7F42-91FD-6253-CD29-6940A5608A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187591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B8C1C141-79EF-F515-48F0-C2343EF5C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1B22080E-4550-C882-7341-D4CF1B3280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PT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8B0F6913-8C7E-6C20-26D0-3242D4E860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37810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6C92A45F-3188-D40A-172E-E6B024CAB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C7D82CB6-9FF1-DA78-07FF-4F74336BCC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PT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EB76F63E-F455-C616-6B0F-735CC88EBE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68991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367E0334-078A-471C-7616-2F5CF9211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3C12853E-2961-B19D-A6E8-5433351CF4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PT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76984B10-3D86-7753-025C-630D08F575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383880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7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61AC5AB8-F056-4545-5F9D-564EC1C20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55774726-9FD9-790C-5F44-FAB940C71CE3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46DC65D5-8C0F-537F-E396-AD7F49D30C2A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Student ID</a:t>
            </a: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7AF43146-127D-005D-FAEA-1CA164345388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Story</a:t>
            </a: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42224C6A-AC0A-94C7-6944-5FE4ABE2D2EE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To Do</a:t>
            </a: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5269596B-EBA4-F160-6A20-35C95676824D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Doing</a:t>
            </a: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C85292E7-CB20-B501-D35B-5BA940BF9509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Review</a:t>
            </a: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9897E0F3-8FE8-81A9-E172-7FB3439C65E9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Done</a:t>
            </a: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3B4C8F39-A280-659A-3C34-207DB3CF85C2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Backlog</a:t>
            </a: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79DF43C1-FAE9-6D14-E2C5-5D1437F81798}"/>
              </a:ext>
            </a:extLst>
          </p:cNvPr>
          <p:cNvSpPr/>
          <p:nvPr/>
        </p:nvSpPr>
        <p:spPr>
          <a:xfrm>
            <a:off x="3211113" y="539700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Everyone</a:t>
            </a: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9D19B7D1-2C0A-C733-0D09-A814EDA1F9A3}"/>
              </a:ext>
            </a:extLst>
          </p:cNvPr>
          <p:cNvSpPr/>
          <p:nvPr/>
        </p:nvSpPr>
        <p:spPr>
          <a:xfrm>
            <a:off x="18668888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T2: Everyone: Playing the game so we can experience the user’s needs.</a:t>
            </a:r>
          </a:p>
        </p:txBody>
      </p:sp>
      <p:sp>
        <p:nvSpPr>
          <p:cNvPr id="2" name="Google Shape;88;p15">
            <a:extLst>
              <a:ext uri="{FF2B5EF4-FFF2-40B4-BE49-F238E27FC236}">
                <a16:creationId xmlns:a16="http://schemas.microsoft.com/office/drawing/2014/main" id="{218467B4-3AC0-16E2-629C-FBE203A75142}"/>
              </a:ext>
            </a:extLst>
          </p:cNvPr>
          <p:cNvSpPr/>
          <p:nvPr/>
        </p:nvSpPr>
        <p:spPr>
          <a:xfrm>
            <a:off x="18668888" y="1957876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T1: Make 3 User Stories</a:t>
            </a:r>
          </a:p>
        </p:txBody>
      </p:sp>
      <p:sp>
        <p:nvSpPr>
          <p:cNvPr id="88" name="Google Shape;88;p15">
            <a:extLst>
              <a:ext uri="{FF2B5EF4-FFF2-40B4-BE49-F238E27FC236}">
                <a16:creationId xmlns:a16="http://schemas.microsoft.com/office/drawing/2014/main" id="{E39DDC64-1091-9738-0A04-469E9D298174}"/>
              </a:ext>
            </a:extLst>
          </p:cNvPr>
          <p:cNvSpPr/>
          <p:nvPr/>
        </p:nvSpPr>
        <p:spPr>
          <a:xfrm>
            <a:off x="18668887" y="2681513"/>
            <a:ext cx="2491725" cy="110155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Find code smells</a:t>
            </a: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326A0E28-04AA-CD76-D1F1-60AD81FC0450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Google Shape;88;p15">
            <a:extLst>
              <a:ext uri="{FF2B5EF4-FFF2-40B4-BE49-F238E27FC236}">
                <a16:creationId xmlns:a16="http://schemas.microsoft.com/office/drawing/2014/main" id="{2DF75946-2985-DE8B-689A-180765EDBDFA}"/>
              </a:ext>
            </a:extLst>
          </p:cNvPr>
          <p:cNvSpPr/>
          <p:nvPr/>
        </p:nvSpPr>
        <p:spPr>
          <a:xfrm>
            <a:off x="405410" y="694221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noProof="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3:</a:t>
            </a:r>
            <a:r>
              <a:rPr lang="en-US" noProof="0" dirty="0">
                <a:latin typeface="Consolas" panose="020B0609020204030204" pitchFamily="49" charset="0"/>
              </a:rPr>
              <a:t>As a player brand new to Mindustry, I want a more intuitive game tutorial so that I don't get lost and demotivated</a:t>
            </a:r>
            <a:r>
              <a:rPr lang="en-US" noProof="0" dirty="0"/>
              <a:t>.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88;p15">
            <a:extLst>
              <a:ext uri="{FF2B5EF4-FFF2-40B4-BE49-F238E27FC236}">
                <a16:creationId xmlns:a16="http://schemas.microsoft.com/office/drawing/2014/main" id="{8C4A1B68-DA91-46F6-E1C0-AEEEE7F3A5DD}"/>
              </a:ext>
            </a:extLst>
          </p:cNvPr>
          <p:cNvSpPr/>
          <p:nvPr/>
        </p:nvSpPr>
        <p:spPr>
          <a:xfrm>
            <a:off x="438912" y="4038458"/>
            <a:ext cx="1867552" cy="282631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>
                <a:latin typeface="Consolas"/>
                <a:ea typeface="Consolas"/>
                <a:cs typeface="Consolas"/>
                <a:sym typeface="Consolas"/>
              </a:rPr>
              <a:t>US 2: As an experienced player I want to have a greater diversity of towers that can help me automate the way I defend orders.</a:t>
            </a:r>
            <a:endParaRPr lang="en-US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88;p15">
            <a:extLst>
              <a:ext uri="{FF2B5EF4-FFF2-40B4-BE49-F238E27FC236}">
                <a16:creationId xmlns:a16="http://schemas.microsoft.com/office/drawing/2014/main" id="{53AFB3A7-7607-2721-EBF6-045BCDDAA2EA}"/>
              </a:ext>
            </a:extLst>
          </p:cNvPr>
          <p:cNvSpPr/>
          <p:nvPr/>
        </p:nvSpPr>
        <p:spPr>
          <a:xfrm>
            <a:off x="405410" y="6982925"/>
            <a:ext cx="1867580" cy="373252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noProof="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1: </a:t>
            </a:r>
            <a:r>
              <a:rPr lang="en-US" dirty="0">
                <a:latin typeface="Consolas" panose="020B0609020204030204" pitchFamily="49" charset="0"/>
              </a:rPr>
              <a:t>As a player, I want to be able to place customizable markers on the map to identify important areas, so that I can better organize my base and communicate with myself throughout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88;p15">
            <a:extLst>
              <a:ext uri="{FF2B5EF4-FFF2-40B4-BE49-F238E27FC236}">
                <a16:creationId xmlns:a16="http://schemas.microsoft.com/office/drawing/2014/main" id="{B72BE45C-8D0D-AFCF-9365-B39072EAC579}"/>
              </a:ext>
            </a:extLst>
          </p:cNvPr>
          <p:cNvSpPr/>
          <p:nvPr/>
        </p:nvSpPr>
        <p:spPr>
          <a:xfrm>
            <a:off x="18683637" y="3151744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Identify Design Patterns</a:t>
            </a:r>
          </a:p>
        </p:txBody>
      </p:sp>
      <p:sp>
        <p:nvSpPr>
          <p:cNvPr id="7" name="Google Shape;88;p15">
            <a:extLst>
              <a:ext uri="{FF2B5EF4-FFF2-40B4-BE49-F238E27FC236}">
                <a16:creationId xmlns:a16="http://schemas.microsoft.com/office/drawing/2014/main" id="{88606E91-1A83-E947-63BE-DAA8706E389C}"/>
              </a:ext>
            </a:extLst>
          </p:cNvPr>
          <p:cNvSpPr/>
          <p:nvPr/>
        </p:nvSpPr>
        <p:spPr>
          <a:xfrm>
            <a:off x="18667367" y="3895475"/>
            <a:ext cx="249324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Create Use Case Diagrams</a:t>
            </a: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12E1E08F-1A0B-0640-86EF-8481262F9FA1}"/>
              </a:ext>
            </a:extLst>
          </p:cNvPr>
          <p:cNvSpPr/>
          <p:nvPr/>
        </p:nvSpPr>
        <p:spPr>
          <a:xfrm>
            <a:off x="18633867" y="4583808"/>
            <a:ext cx="2560243" cy="146481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Write Codebase Metrics Assessment report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90;p15">
            <a:extLst>
              <a:ext uri="{FF2B5EF4-FFF2-40B4-BE49-F238E27FC236}">
                <a16:creationId xmlns:a16="http://schemas.microsoft.com/office/drawing/2014/main" id="{21D2536C-E17D-8458-2424-D05F4BE4A2C6}"/>
              </a:ext>
            </a:extLst>
          </p:cNvPr>
          <p:cNvSpPr/>
          <p:nvPr/>
        </p:nvSpPr>
        <p:spPr>
          <a:xfrm>
            <a:off x="18664347" y="5271690"/>
            <a:ext cx="2495724" cy="164142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Update all User Stories with final functionalities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E2484E86-AB6F-DE50-22E2-74274B676B49}"/>
              </a:ext>
            </a:extLst>
          </p:cNvPr>
          <p:cNvSpPr/>
          <p:nvPr/>
        </p:nvSpPr>
        <p:spPr>
          <a:xfrm>
            <a:off x="18664889" y="6220359"/>
            <a:ext cx="2495723" cy="156110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Create User Cases Diagrams for each User Story</a:t>
            </a:r>
          </a:p>
        </p:txBody>
      </p:sp>
      <p:sp>
        <p:nvSpPr>
          <p:cNvPr id="13" name="Google Shape;90;p15">
            <a:extLst>
              <a:ext uri="{FF2B5EF4-FFF2-40B4-BE49-F238E27FC236}">
                <a16:creationId xmlns:a16="http://schemas.microsoft.com/office/drawing/2014/main" id="{FDBEBC95-D49D-069D-7AE8-5079F7A2A787}"/>
              </a:ext>
            </a:extLst>
          </p:cNvPr>
          <p:cNvSpPr/>
          <p:nvPr/>
        </p:nvSpPr>
        <p:spPr>
          <a:xfrm>
            <a:off x="18683637" y="7093495"/>
            <a:ext cx="2495722" cy="12787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Write Use Case textual descriptions</a:t>
            </a:r>
          </a:p>
        </p:txBody>
      </p:sp>
      <p:sp>
        <p:nvSpPr>
          <p:cNvPr id="15" name="Google Shape;90;p15">
            <a:extLst>
              <a:ext uri="{FF2B5EF4-FFF2-40B4-BE49-F238E27FC236}">
                <a16:creationId xmlns:a16="http://schemas.microsoft.com/office/drawing/2014/main" id="{3548CE12-C574-E813-E744-AD3F15803C24}"/>
              </a:ext>
            </a:extLst>
          </p:cNvPr>
          <p:cNvSpPr/>
          <p:nvPr/>
        </p:nvSpPr>
        <p:spPr>
          <a:xfrm>
            <a:off x="18664347" y="7801665"/>
            <a:ext cx="2495724" cy="164142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latin typeface="Consolas"/>
                <a:ea typeface="Consolas"/>
                <a:cs typeface="Consolas"/>
                <a:sym typeface="Consolas"/>
              </a:rPr>
              <a:t>Create a first version of the implementation of e</a:t>
            </a:r>
            <a:r>
              <a:rPr lang="en-US" sz="1800" dirty="0">
                <a:latin typeface="Consolas"/>
                <a:ea typeface="Consolas"/>
                <a:cs typeface="Consolas"/>
                <a:sym typeface="Consolas"/>
              </a:rPr>
              <a:t>very User Story</a:t>
            </a:r>
            <a:endParaRPr lang="en-US" sz="1800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88;p15">
            <a:extLst>
              <a:ext uri="{FF2B5EF4-FFF2-40B4-BE49-F238E27FC236}">
                <a16:creationId xmlns:a16="http://schemas.microsoft.com/office/drawing/2014/main" id="{521D8A54-6D7D-56D3-A6E4-616F4A1136CC}"/>
              </a:ext>
            </a:extLst>
          </p:cNvPr>
          <p:cNvSpPr/>
          <p:nvPr/>
        </p:nvSpPr>
        <p:spPr>
          <a:xfrm>
            <a:off x="9308857" y="3783069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Sequence Diagrams of each implementation</a:t>
            </a:r>
          </a:p>
        </p:txBody>
      </p:sp>
      <p:sp>
        <p:nvSpPr>
          <p:cNvPr id="14" name="Google Shape;88;p15">
            <a:extLst>
              <a:ext uri="{FF2B5EF4-FFF2-40B4-BE49-F238E27FC236}">
                <a16:creationId xmlns:a16="http://schemas.microsoft.com/office/drawing/2014/main" id="{E3A5CE47-5D35-BD65-15B0-6271869D3D07}"/>
              </a:ext>
            </a:extLst>
          </p:cNvPr>
          <p:cNvSpPr/>
          <p:nvPr/>
        </p:nvSpPr>
        <p:spPr>
          <a:xfrm>
            <a:off x="9308857" y="2394736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Class Diagrams of each implementation</a:t>
            </a:r>
          </a:p>
        </p:txBody>
      </p:sp>
      <p:sp>
        <p:nvSpPr>
          <p:cNvPr id="16" name="Google Shape;88;p15">
            <a:extLst>
              <a:ext uri="{FF2B5EF4-FFF2-40B4-BE49-F238E27FC236}">
                <a16:creationId xmlns:a16="http://schemas.microsoft.com/office/drawing/2014/main" id="{CE25FDB5-CA4C-721F-702F-796AA9EAAA8F}"/>
              </a:ext>
            </a:extLst>
          </p:cNvPr>
          <p:cNvSpPr/>
          <p:nvPr/>
        </p:nvSpPr>
        <p:spPr>
          <a:xfrm>
            <a:off x="9308858" y="1120321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Final Version of each implementation</a:t>
            </a:r>
          </a:p>
        </p:txBody>
      </p:sp>
      <p:sp>
        <p:nvSpPr>
          <p:cNvPr id="18" name="Google Shape;88;p15">
            <a:extLst>
              <a:ext uri="{FF2B5EF4-FFF2-40B4-BE49-F238E27FC236}">
                <a16:creationId xmlns:a16="http://schemas.microsoft.com/office/drawing/2014/main" id="{1D63975F-B2ED-2447-81A1-B1E81F437500}"/>
              </a:ext>
            </a:extLst>
          </p:cNvPr>
          <p:cNvSpPr/>
          <p:nvPr/>
        </p:nvSpPr>
        <p:spPr>
          <a:xfrm>
            <a:off x="9308856" y="5171402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Unit tests for each implementation </a:t>
            </a:r>
          </a:p>
        </p:txBody>
      </p:sp>
      <p:sp>
        <p:nvSpPr>
          <p:cNvPr id="19" name="Google Shape;88;p15">
            <a:extLst>
              <a:ext uri="{FF2B5EF4-FFF2-40B4-BE49-F238E27FC236}">
                <a16:creationId xmlns:a16="http://schemas.microsoft.com/office/drawing/2014/main" id="{6AB2783C-7E12-A823-D2BC-927D5B5045FE}"/>
              </a:ext>
            </a:extLst>
          </p:cNvPr>
          <p:cNvSpPr/>
          <p:nvPr/>
        </p:nvSpPr>
        <p:spPr>
          <a:xfrm>
            <a:off x="9308856" y="6524515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Demo video of the new features in the game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88;p15">
            <a:extLst>
              <a:ext uri="{FF2B5EF4-FFF2-40B4-BE49-F238E27FC236}">
                <a16:creationId xmlns:a16="http://schemas.microsoft.com/office/drawing/2014/main" id="{77781C67-A9EB-33AD-E7D7-601B34743054}"/>
              </a:ext>
            </a:extLst>
          </p:cNvPr>
          <p:cNvSpPr/>
          <p:nvPr/>
        </p:nvSpPr>
        <p:spPr>
          <a:xfrm>
            <a:off x="9308856" y="7877628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Video of the progress of the scrum board</a:t>
            </a:r>
          </a:p>
        </p:txBody>
      </p:sp>
    </p:spTree>
    <p:extLst>
      <p:ext uri="{BB962C8B-B14F-4D97-AF65-F5344CB8AC3E}">
        <p14:creationId xmlns:p14="http://schemas.microsoft.com/office/powerpoint/2010/main" val="29419110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0CD00D03-AC52-9272-A8F7-0A657E123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2B391985-330F-B5C5-D5A9-B43CA335EDE7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91A2CC90-F51A-2803-6010-012989303A5F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Student ID</a:t>
            </a: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52C24D4D-993F-2D91-F0B1-465142DF0462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Story</a:t>
            </a: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57A82AA8-0469-EA6D-DBC1-E9B1DADC8B21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To Do</a:t>
            </a: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D111B2DF-79BA-9881-D59C-CE3F06C190CD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Doing</a:t>
            </a: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555B369A-AC13-7263-43CD-44559CA66C1A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Review</a:t>
            </a: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80B40FEE-B698-79CF-A3CE-0D2ABB1E48F4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Done</a:t>
            </a: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48B7D400-2B15-FCF2-639D-C86DD3E6E91B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Backlog</a:t>
            </a: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F4AAC29D-DD61-0801-2EEE-9371D6BFD22D}"/>
              </a:ext>
            </a:extLst>
          </p:cNvPr>
          <p:cNvSpPr/>
          <p:nvPr/>
        </p:nvSpPr>
        <p:spPr>
          <a:xfrm>
            <a:off x="3259795" y="517140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Everyone</a:t>
            </a: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A3A2C09E-B0C8-51FE-11D8-80719BFAC30A}"/>
              </a:ext>
            </a:extLst>
          </p:cNvPr>
          <p:cNvSpPr/>
          <p:nvPr/>
        </p:nvSpPr>
        <p:spPr>
          <a:xfrm>
            <a:off x="18668888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T2: Everyone: Playing the game so we can experience the user’s needs.</a:t>
            </a:r>
          </a:p>
        </p:txBody>
      </p:sp>
      <p:sp>
        <p:nvSpPr>
          <p:cNvPr id="2" name="Google Shape;88;p15">
            <a:extLst>
              <a:ext uri="{FF2B5EF4-FFF2-40B4-BE49-F238E27FC236}">
                <a16:creationId xmlns:a16="http://schemas.microsoft.com/office/drawing/2014/main" id="{536384BA-837A-ED2D-D92C-E387EB489C4C}"/>
              </a:ext>
            </a:extLst>
          </p:cNvPr>
          <p:cNvSpPr/>
          <p:nvPr/>
        </p:nvSpPr>
        <p:spPr>
          <a:xfrm>
            <a:off x="18668888" y="1957876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T1: Make 3 User Stories</a:t>
            </a:r>
          </a:p>
        </p:txBody>
      </p:sp>
      <p:sp>
        <p:nvSpPr>
          <p:cNvPr id="88" name="Google Shape;88;p15">
            <a:extLst>
              <a:ext uri="{FF2B5EF4-FFF2-40B4-BE49-F238E27FC236}">
                <a16:creationId xmlns:a16="http://schemas.microsoft.com/office/drawing/2014/main" id="{B68E39F5-591C-CFC5-4D9E-BC8C98304677}"/>
              </a:ext>
            </a:extLst>
          </p:cNvPr>
          <p:cNvSpPr/>
          <p:nvPr/>
        </p:nvSpPr>
        <p:spPr>
          <a:xfrm>
            <a:off x="18668887" y="2681513"/>
            <a:ext cx="2491725" cy="110155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Find code smells</a:t>
            </a: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109A3668-70A7-A981-5BF3-EA5098660CE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Google Shape;88;p15">
            <a:extLst>
              <a:ext uri="{FF2B5EF4-FFF2-40B4-BE49-F238E27FC236}">
                <a16:creationId xmlns:a16="http://schemas.microsoft.com/office/drawing/2014/main" id="{AC5E1F1F-D959-9FE0-B45D-269CC57481E6}"/>
              </a:ext>
            </a:extLst>
          </p:cNvPr>
          <p:cNvSpPr/>
          <p:nvPr/>
        </p:nvSpPr>
        <p:spPr>
          <a:xfrm>
            <a:off x="405410" y="694221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noProof="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3:</a:t>
            </a:r>
            <a:r>
              <a:rPr lang="en-US" noProof="0" dirty="0">
                <a:latin typeface="Consolas" panose="020B0609020204030204" pitchFamily="49" charset="0"/>
              </a:rPr>
              <a:t>As a player brand new to Mindustry, I want a more intuitive game tutorial so that I don't get lost and demotivated</a:t>
            </a:r>
            <a:r>
              <a:rPr lang="en-US" noProof="0" dirty="0"/>
              <a:t>.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88;p15">
            <a:extLst>
              <a:ext uri="{FF2B5EF4-FFF2-40B4-BE49-F238E27FC236}">
                <a16:creationId xmlns:a16="http://schemas.microsoft.com/office/drawing/2014/main" id="{6D39F826-A688-22CA-B41B-98F913721C89}"/>
              </a:ext>
            </a:extLst>
          </p:cNvPr>
          <p:cNvSpPr/>
          <p:nvPr/>
        </p:nvSpPr>
        <p:spPr>
          <a:xfrm>
            <a:off x="438912" y="4038458"/>
            <a:ext cx="1867552" cy="282631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>
                <a:latin typeface="Consolas"/>
                <a:ea typeface="Consolas"/>
                <a:cs typeface="Consolas"/>
                <a:sym typeface="Consolas"/>
              </a:rPr>
              <a:t>US 2: As an experienced player I want to have a greater diversity of towers that can help me automate the way I defend orders.</a:t>
            </a:r>
            <a:endParaRPr lang="en-US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88;p15">
            <a:extLst>
              <a:ext uri="{FF2B5EF4-FFF2-40B4-BE49-F238E27FC236}">
                <a16:creationId xmlns:a16="http://schemas.microsoft.com/office/drawing/2014/main" id="{B1B0D8DA-BC9F-3826-1070-1EABB3CE4F64}"/>
              </a:ext>
            </a:extLst>
          </p:cNvPr>
          <p:cNvSpPr/>
          <p:nvPr/>
        </p:nvSpPr>
        <p:spPr>
          <a:xfrm>
            <a:off x="405410" y="6982925"/>
            <a:ext cx="1867580" cy="373252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noProof="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1: </a:t>
            </a:r>
            <a:r>
              <a:rPr lang="en-US" dirty="0">
                <a:latin typeface="Consolas" panose="020B0609020204030204" pitchFamily="49" charset="0"/>
              </a:rPr>
              <a:t>As a player, I want to be able to place customizable markers on the map to identify important areas, so that I can better organize my base and communicate with myself throughout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88;p15">
            <a:extLst>
              <a:ext uri="{FF2B5EF4-FFF2-40B4-BE49-F238E27FC236}">
                <a16:creationId xmlns:a16="http://schemas.microsoft.com/office/drawing/2014/main" id="{6D2C543F-DB19-5D78-2A75-69E936861043}"/>
              </a:ext>
            </a:extLst>
          </p:cNvPr>
          <p:cNvSpPr/>
          <p:nvPr/>
        </p:nvSpPr>
        <p:spPr>
          <a:xfrm>
            <a:off x="18683637" y="3151744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Identify Design Patterns</a:t>
            </a:r>
          </a:p>
        </p:txBody>
      </p:sp>
      <p:sp>
        <p:nvSpPr>
          <p:cNvPr id="7" name="Google Shape;88;p15">
            <a:extLst>
              <a:ext uri="{FF2B5EF4-FFF2-40B4-BE49-F238E27FC236}">
                <a16:creationId xmlns:a16="http://schemas.microsoft.com/office/drawing/2014/main" id="{F324A5EF-15D5-9EDD-67AB-8DE6DD3FB49E}"/>
              </a:ext>
            </a:extLst>
          </p:cNvPr>
          <p:cNvSpPr/>
          <p:nvPr/>
        </p:nvSpPr>
        <p:spPr>
          <a:xfrm>
            <a:off x="18667367" y="3895475"/>
            <a:ext cx="249324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Create Use Case Diagrams</a:t>
            </a: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532C955D-22A5-D620-C21A-448223C168B1}"/>
              </a:ext>
            </a:extLst>
          </p:cNvPr>
          <p:cNvSpPr/>
          <p:nvPr/>
        </p:nvSpPr>
        <p:spPr>
          <a:xfrm>
            <a:off x="18633867" y="4583808"/>
            <a:ext cx="2560243" cy="146481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Write Codebase Metrics Assessment report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90;p15">
            <a:extLst>
              <a:ext uri="{FF2B5EF4-FFF2-40B4-BE49-F238E27FC236}">
                <a16:creationId xmlns:a16="http://schemas.microsoft.com/office/drawing/2014/main" id="{D3EE5122-5EB1-FA5B-E675-E1E930FA42B0}"/>
              </a:ext>
            </a:extLst>
          </p:cNvPr>
          <p:cNvSpPr/>
          <p:nvPr/>
        </p:nvSpPr>
        <p:spPr>
          <a:xfrm>
            <a:off x="18664347" y="5271690"/>
            <a:ext cx="2495724" cy="164142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Update all User Stories with final functionalities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0CB42DC5-CDB8-4B7D-8FB2-80C5806C587F}"/>
              </a:ext>
            </a:extLst>
          </p:cNvPr>
          <p:cNvSpPr/>
          <p:nvPr/>
        </p:nvSpPr>
        <p:spPr>
          <a:xfrm>
            <a:off x="18664889" y="6220359"/>
            <a:ext cx="2495723" cy="156110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Create User Cases Diagrams for each User Story</a:t>
            </a:r>
          </a:p>
        </p:txBody>
      </p:sp>
      <p:sp>
        <p:nvSpPr>
          <p:cNvPr id="13" name="Google Shape;90;p15">
            <a:extLst>
              <a:ext uri="{FF2B5EF4-FFF2-40B4-BE49-F238E27FC236}">
                <a16:creationId xmlns:a16="http://schemas.microsoft.com/office/drawing/2014/main" id="{A5E31981-ADFD-A106-3D50-D5BADA8ECED9}"/>
              </a:ext>
            </a:extLst>
          </p:cNvPr>
          <p:cNvSpPr/>
          <p:nvPr/>
        </p:nvSpPr>
        <p:spPr>
          <a:xfrm>
            <a:off x="18683637" y="7093495"/>
            <a:ext cx="2495722" cy="12787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Write Use Case textual descriptions</a:t>
            </a:r>
          </a:p>
        </p:txBody>
      </p:sp>
      <p:sp>
        <p:nvSpPr>
          <p:cNvPr id="15" name="Google Shape;90;p15">
            <a:extLst>
              <a:ext uri="{FF2B5EF4-FFF2-40B4-BE49-F238E27FC236}">
                <a16:creationId xmlns:a16="http://schemas.microsoft.com/office/drawing/2014/main" id="{8F234C91-F84E-00F6-4527-F9B9BD0D1A74}"/>
              </a:ext>
            </a:extLst>
          </p:cNvPr>
          <p:cNvSpPr/>
          <p:nvPr/>
        </p:nvSpPr>
        <p:spPr>
          <a:xfrm>
            <a:off x="18664347" y="7801665"/>
            <a:ext cx="2495724" cy="164142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latin typeface="Consolas"/>
                <a:ea typeface="Consolas"/>
                <a:cs typeface="Consolas"/>
                <a:sym typeface="Consolas"/>
              </a:rPr>
              <a:t>Create a first version of the implementation of e</a:t>
            </a:r>
            <a:r>
              <a:rPr lang="en-US" sz="1800" dirty="0">
                <a:latin typeface="Consolas"/>
                <a:ea typeface="Consolas"/>
                <a:cs typeface="Consolas"/>
                <a:sym typeface="Consolas"/>
              </a:rPr>
              <a:t>very User Story</a:t>
            </a:r>
            <a:endParaRPr lang="en-US" sz="1800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88;p15">
            <a:extLst>
              <a:ext uri="{FF2B5EF4-FFF2-40B4-BE49-F238E27FC236}">
                <a16:creationId xmlns:a16="http://schemas.microsoft.com/office/drawing/2014/main" id="{643B8AB3-9294-603C-28E6-DEC4393F1AC5}"/>
              </a:ext>
            </a:extLst>
          </p:cNvPr>
          <p:cNvSpPr/>
          <p:nvPr/>
        </p:nvSpPr>
        <p:spPr>
          <a:xfrm>
            <a:off x="12281513" y="3944911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Sequence Diagrams of each implementation</a:t>
            </a:r>
          </a:p>
        </p:txBody>
      </p:sp>
      <p:sp>
        <p:nvSpPr>
          <p:cNvPr id="14" name="Google Shape;88;p15">
            <a:extLst>
              <a:ext uri="{FF2B5EF4-FFF2-40B4-BE49-F238E27FC236}">
                <a16:creationId xmlns:a16="http://schemas.microsoft.com/office/drawing/2014/main" id="{47728A48-F00F-8978-46AC-53A4A78FB232}"/>
              </a:ext>
            </a:extLst>
          </p:cNvPr>
          <p:cNvSpPr/>
          <p:nvPr/>
        </p:nvSpPr>
        <p:spPr>
          <a:xfrm>
            <a:off x="12281514" y="2512985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Class Diagrams of each implementation</a:t>
            </a:r>
          </a:p>
        </p:txBody>
      </p:sp>
      <p:sp>
        <p:nvSpPr>
          <p:cNvPr id="16" name="Google Shape;88;p15">
            <a:extLst>
              <a:ext uri="{FF2B5EF4-FFF2-40B4-BE49-F238E27FC236}">
                <a16:creationId xmlns:a16="http://schemas.microsoft.com/office/drawing/2014/main" id="{2A09E218-6303-BF9B-0BD1-A3572C09A0C9}"/>
              </a:ext>
            </a:extLst>
          </p:cNvPr>
          <p:cNvSpPr/>
          <p:nvPr/>
        </p:nvSpPr>
        <p:spPr>
          <a:xfrm>
            <a:off x="12281512" y="849419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Final Version of each implementation</a:t>
            </a:r>
          </a:p>
        </p:txBody>
      </p:sp>
      <p:sp>
        <p:nvSpPr>
          <p:cNvPr id="18" name="Google Shape;88;p15">
            <a:extLst>
              <a:ext uri="{FF2B5EF4-FFF2-40B4-BE49-F238E27FC236}">
                <a16:creationId xmlns:a16="http://schemas.microsoft.com/office/drawing/2014/main" id="{46086A44-9BA2-89B8-91E6-D50887CE2CE6}"/>
              </a:ext>
            </a:extLst>
          </p:cNvPr>
          <p:cNvSpPr/>
          <p:nvPr/>
        </p:nvSpPr>
        <p:spPr>
          <a:xfrm>
            <a:off x="12281513" y="5411852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Unit tests for each implementation </a:t>
            </a:r>
          </a:p>
        </p:txBody>
      </p:sp>
      <p:sp>
        <p:nvSpPr>
          <p:cNvPr id="19" name="Google Shape;88;p15">
            <a:extLst>
              <a:ext uri="{FF2B5EF4-FFF2-40B4-BE49-F238E27FC236}">
                <a16:creationId xmlns:a16="http://schemas.microsoft.com/office/drawing/2014/main" id="{FFF3E755-E5AB-340E-27C8-7C034D4EDE38}"/>
              </a:ext>
            </a:extLst>
          </p:cNvPr>
          <p:cNvSpPr/>
          <p:nvPr/>
        </p:nvSpPr>
        <p:spPr>
          <a:xfrm>
            <a:off x="9308853" y="6964110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Demo video of the new features in the game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88;p15">
            <a:extLst>
              <a:ext uri="{FF2B5EF4-FFF2-40B4-BE49-F238E27FC236}">
                <a16:creationId xmlns:a16="http://schemas.microsoft.com/office/drawing/2014/main" id="{531B2CAB-F1DD-1F8D-FA1A-03AFD8788CD5}"/>
              </a:ext>
            </a:extLst>
          </p:cNvPr>
          <p:cNvSpPr/>
          <p:nvPr/>
        </p:nvSpPr>
        <p:spPr>
          <a:xfrm>
            <a:off x="9308855" y="8372275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Video of the progress of the scrum board</a:t>
            </a:r>
          </a:p>
        </p:txBody>
      </p:sp>
    </p:spTree>
    <p:extLst>
      <p:ext uri="{BB962C8B-B14F-4D97-AF65-F5344CB8AC3E}">
        <p14:creationId xmlns:p14="http://schemas.microsoft.com/office/powerpoint/2010/main" val="42609066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E48758B5-DBC7-DFA7-891F-BF361B4CF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C798809F-763C-172B-ACC1-E2493705ED14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C951B2D4-ED54-4DAD-97E5-89D9FAA94326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Student ID</a:t>
            </a: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C260BD04-D935-76B9-789B-B313E4119C4F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Story</a:t>
            </a: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C3A01484-EE0F-163D-3BE4-755B5E0ACC2E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To Do</a:t>
            </a: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2EA054D9-A0AE-0558-A6D8-F084864F8645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Doing</a:t>
            </a: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45A61979-47FB-E927-F9A0-195C44D4B801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Review</a:t>
            </a: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CFF7AE07-13AE-24D1-E860-D4863FCCA037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Done</a:t>
            </a: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1C954157-5E97-4EAB-7571-C5CA546AC43E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Backlog</a:t>
            </a: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1CECED79-1CD1-F727-4C36-13F6B2144E04}"/>
              </a:ext>
            </a:extLst>
          </p:cNvPr>
          <p:cNvSpPr/>
          <p:nvPr/>
        </p:nvSpPr>
        <p:spPr>
          <a:xfrm>
            <a:off x="3259795" y="517140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Everyone</a:t>
            </a: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F8C4E67F-49CD-C5C1-AF30-6FC9CDBCB93B}"/>
              </a:ext>
            </a:extLst>
          </p:cNvPr>
          <p:cNvSpPr/>
          <p:nvPr/>
        </p:nvSpPr>
        <p:spPr>
          <a:xfrm>
            <a:off x="18668888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T2: Everyone: Playing the game so we can experience the user’s needs.</a:t>
            </a:r>
          </a:p>
        </p:txBody>
      </p:sp>
      <p:sp>
        <p:nvSpPr>
          <p:cNvPr id="2" name="Google Shape;88;p15">
            <a:extLst>
              <a:ext uri="{FF2B5EF4-FFF2-40B4-BE49-F238E27FC236}">
                <a16:creationId xmlns:a16="http://schemas.microsoft.com/office/drawing/2014/main" id="{A1830A4C-4351-7B0A-FE39-F95A4993A3C5}"/>
              </a:ext>
            </a:extLst>
          </p:cNvPr>
          <p:cNvSpPr/>
          <p:nvPr/>
        </p:nvSpPr>
        <p:spPr>
          <a:xfrm>
            <a:off x="18668888" y="1957876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T1: Make 3 User Stories</a:t>
            </a:r>
          </a:p>
        </p:txBody>
      </p:sp>
      <p:sp>
        <p:nvSpPr>
          <p:cNvPr id="88" name="Google Shape;88;p15">
            <a:extLst>
              <a:ext uri="{FF2B5EF4-FFF2-40B4-BE49-F238E27FC236}">
                <a16:creationId xmlns:a16="http://schemas.microsoft.com/office/drawing/2014/main" id="{46C78975-D937-E923-A5ED-00B675114BC3}"/>
              </a:ext>
            </a:extLst>
          </p:cNvPr>
          <p:cNvSpPr/>
          <p:nvPr/>
        </p:nvSpPr>
        <p:spPr>
          <a:xfrm>
            <a:off x="18668887" y="2681513"/>
            <a:ext cx="2491725" cy="110155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Find code smells</a:t>
            </a: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118F0261-9792-C39D-5B38-38571AC3391C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Google Shape;88;p15">
            <a:extLst>
              <a:ext uri="{FF2B5EF4-FFF2-40B4-BE49-F238E27FC236}">
                <a16:creationId xmlns:a16="http://schemas.microsoft.com/office/drawing/2014/main" id="{586702A7-9DAF-8213-B119-E0771CEC6F2F}"/>
              </a:ext>
            </a:extLst>
          </p:cNvPr>
          <p:cNvSpPr/>
          <p:nvPr/>
        </p:nvSpPr>
        <p:spPr>
          <a:xfrm>
            <a:off x="405410" y="694221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noProof="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3:</a:t>
            </a:r>
            <a:r>
              <a:rPr lang="en-US" noProof="0" dirty="0">
                <a:latin typeface="Consolas" panose="020B0609020204030204" pitchFamily="49" charset="0"/>
              </a:rPr>
              <a:t>As a player brand new to Mindustry, I want a more intuitive game tutorial so that I don't get lost and demotivated</a:t>
            </a:r>
            <a:r>
              <a:rPr lang="en-US" noProof="0" dirty="0"/>
              <a:t>.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88;p15">
            <a:extLst>
              <a:ext uri="{FF2B5EF4-FFF2-40B4-BE49-F238E27FC236}">
                <a16:creationId xmlns:a16="http://schemas.microsoft.com/office/drawing/2014/main" id="{EB5CDBC4-4B2E-5970-DFD0-4C96BB240163}"/>
              </a:ext>
            </a:extLst>
          </p:cNvPr>
          <p:cNvSpPr/>
          <p:nvPr/>
        </p:nvSpPr>
        <p:spPr>
          <a:xfrm>
            <a:off x="438912" y="4038458"/>
            <a:ext cx="1867552" cy="282631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>
                <a:latin typeface="Consolas"/>
                <a:ea typeface="Consolas"/>
                <a:cs typeface="Consolas"/>
                <a:sym typeface="Consolas"/>
              </a:rPr>
              <a:t>US 2: As an experienced player I want to have a greater diversity of towers that can help me automate the way I defend orders.</a:t>
            </a:r>
            <a:endParaRPr lang="en-US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88;p15">
            <a:extLst>
              <a:ext uri="{FF2B5EF4-FFF2-40B4-BE49-F238E27FC236}">
                <a16:creationId xmlns:a16="http://schemas.microsoft.com/office/drawing/2014/main" id="{5F51A041-2BC3-1F12-A9D8-F9883ED852D4}"/>
              </a:ext>
            </a:extLst>
          </p:cNvPr>
          <p:cNvSpPr/>
          <p:nvPr/>
        </p:nvSpPr>
        <p:spPr>
          <a:xfrm>
            <a:off x="405410" y="6982925"/>
            <a:ext cx="1867580" cy="373252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noProof="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1: </a:t>
            </a:r>
            <a:r>
              <a:rPr lang="en-US" dirty="0">
                <a:latin typeface="Consolas" panose="020B0609020204030204" pitchFamily="49" charset="0"/>
              </a:rPr>
              <a:t>As a player, I want to be able to place customizable markers on the map to identify important areas, so that I can better organize my base and communicate with myself throughout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88;p15">
            <a:extLst>
              <a:ext uri="{FF2B5EF4-FFF2-40B4-BE49-F238E27FC236}">
                <a16:creationId xmlns:a16="http://schemas.microsoft.com/office/drawing/2014/main" id="{3846444D-BF14-A36F-F981-21F9B58E0FDF}"/>
              </a:ext>
            </a:extLst>
          </p:cNvPr>
          <p:cNvSpPr/>
          <p:nvPr/>
        </p:nvSpPr>
        <p:spPr>
          <a:xfrm>
            <a:off x="18683637" y="3151744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Identify Design Patterns</a:t>
            </a:r>
          </a:p>
        </p:txBody>
      </p:sp>
      <p:sp>
        <p:nvSpPr>
          <p:cNvPr id="7" name="Google Shape;88;p15">
            <a:extLst>
              <a:ext uri="{FF2B5EF4-FFF2-40B4-BE49-F238E27FC236}">
                <a16:creationId xmlns:a16="http://schemas.microsoft.com/office/drawing/2014/main" id="{574CC3F6-E3A8-1487-539E-3E74EDD53DE3}"/>
              </a:ext>
            </a:extLst>
          </p:cNvPr>
          <p:cNvSpPr/>
          <p:nvPr/>
        </p:nvSpPr>
        <p:spPr>
          <a:xfrm>
            <a:off x="18667367" y="3895475"/>
            <a:ext cx="249324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Create Use Case Diagrams</a:t>
            </a: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1C5032D2-CA1C-4105-C0D2-55D13A1AAB97}"/>
              </a:ext>
            </a:extLst>
          </p:cNvPr>
          <p:cNvSpPr/>
          <p:nvPr/>
        </p:nvSpPr>
        <p:spPr>
          <a:xfrm>
            <a:off x="18633867" y="4583808"/>
            <a:ext cx="2560243" cy="146481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Write Codebase Metrics Assessment report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90;p15">
            <a:extLst>
              <a:ext uri="{FF2B5EF4-FFF2-40B4-BE49-F238E27FC236}">
                <a16:creationId xmlns:a16="http://schemas.microsoft.com/office/drawing/2014/main" id="{60038BE6-01AB-76A2-A050-4095F8B8A7D9}"/>
              </a:ext>
            </a:extLst>
          </p:cNvPr>
          <p:cNvSpPr/>
          <p:nvPr/>
        </p:nvSpPr>
        <p:spPr>
          <a:xfrm>
            <a:off x="18664347" y="5271690"/>
            <a:ext cx="2495724" cy="164142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Update all User Stories with final functionalities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EFE3E1C4-D8D2-EAEB-13AF-A6A807041E61}"/>
              </a:ext>
            </a:extLst>
          </p:cNvPr>
          <p:cNvSpPr/>
          <p:nvPr/>
        </p:nvSpPr>
        <p:spPr>
          <a:xfrm>
            <a:off x="18664889" y="6220359"/>
            <a:ext cx="2495723" cy="156110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Create User Cases Diagrams for each User Story</a:t>
            </a:r>
          </a:p>
        </p:txBody>
      </p:sp>
      <p:sp>
        <p:nvSpPr>
          <p:cNvPr id="13" name="Google Shape;90;p15">
            <a:extLst>
              <a:ext uri="{FF2B5EF4-FFF2-40B4-BE49-F238E27FC236}">
                <a16:creationId xmlns:a16="http://schemas.microsoft.com/office/drawing/2014/main" id="{5641F0FE-E450-8274-1BFC-C994CE426A9E}"/>
              </a:ext>
            </a:extLst>
          </p:cNvPr>
          <p:cNvSpPr/>
          <p:nvPr/>
        </p:nvSpPr>
        <p:spPr>
          <a:xfrm>
            <a:off x="18683637" y="7093495"/>
            <a:ext cx="2495722" cy="12787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Write Use Case textual descriptions</a:t>
            </a:r>
          </a:p>
        </p:txBody>
      </p:sp>
      <p:sp>
        <p:nvSpPr>
          <p:cNvPr id="15" name="Google Shape;90;p15">
            <a:extLst>
              <a:ext uri="{FF2B5EF4-FFF2-40B4-BE49-F238E27FC236}">
                <a16:creationId xmlns:a16="http://schemas.microsoft.com/office/drawing/2014/main" id="{81244E71-3DC9-BEB8-31E9-9D9C0088F51A}"/>
              </a:ext>
            </a:extLst>
          </p:cNvPr>
          <p:cNvSpPr/>
          <p:nvPr/>
        </p:nvSpPr>
        <p:spPr>
          <a:xfrm>
            <a:off x="18664347" y="7801665"/>
            <a:ext cx="2495724" cy="164142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latin typeface="Consolas"/>
                <a:ea typeface="Consolas"/>
                <a:cs typeface="Consolas"/>
                <a:sym typeface="Consolas"/>
              </a:rPr>
              <a:t>Create a first version of the implementation of e</a:t>
            </a:r>
            <a:r>
              <a:rPr lang="en-US" sz="1800" dirty="0">
                <a:latin typeface="Consolas"/>
                <a:ea typeface="Consolas"/>
                <a:cs typeface="Consolas"/>
                <a:sym typeface="Consolas"/>
              </a:rPr>
              <a:t>very User Story</a:t>
            </a:r>
            <a:endParaRPr lang="en-US" sz="1800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88;p15">
            <a:extLst>
              <a:ext uri="{FF2B5EF4-FFF2-40B4-BE49-F238E27FC236}">
                <a16:creationId xmlns:a16="http://schemas.microsoft.com/office/drawing/2014/main" id="{277CC14D-D50C-1A77-0B14-39DA2D99E7CC}"/>
              </a:ext>
            </a:extLst>
          </p:cNvPr>
          <p:cNvSpPr/>
          <p:nvPr/>
        </p:nvSpPr>
        <p:spPr>
          <a:xfrm>
            <a:off x="12281513" y="3944911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Sequence Diagrams of each implementation</a:t>
            </a:r>
          </a:p>
        </p:txBody>
      </p:sp>
      <p:sp>
        <p:nvSpPr>
          <p:cNvPr id="14" name="Google Shape;88;p15">
            <a:extLst>
              <a:ext uri="{FF2B5EF4-FFF2-40B4-BE49-F238E27FC236}">
                <a16:creationId xmlns:a16="http://schemas.microsoft.com/office/drawing/2014/main" id="{C654CAFD-11E0-30DE-1454-390A6280CE95}"/>
              </a:ext>
            </a:extLst>
          </p:cNvPr>
          <p:cNvSpPr/>
          <p:nvPr/>
        </p:nvSpPr>
        <p:spPr>
          <a:xfrm>
            <a:off x="12281514" y="2512985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Class Diagrams of each implementation</a:t>
            </a:r>
          </a:p>
        </p:txBody>
      </p:sp>
      <p:sp>
        <p:nvSpPr>
          <p:cNvPr id="16" name="Google Shape;88;p15">
            <a:extLst>
              <a:ext uri="{FF2B5EF4-FFF2-40B4-BE49-F238E27FC236}">
                <a16:creationId xmlns:a16="http://schemas.microsoft.com/office/drawing/2014/main" id="{C931B3D1-FED8-24F2-2B26-B96E69E4293C}"/>
              </a:ext>
            </a:extLst>
          </p:cNvPr>
          <p:cNvSpPr/>
          <p:nvPr/>
        </p:nvSpPr>
        <p:spPr>
          <a:xfrm>
            <a:off x="15532407" y="849419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Final Version of each implementation</a:t>
            </a:r>
          </a:p>
        </p:txBody>
      </p:sp>
      <p:sp>
        <p:nvSpPr>
          <p:cNvPr id="18" name="Google Shape;88;p15">
            <a:extLst>
              <a:ext uri="{FF2B5EF4-FFF2-40B4-BE49-F238E27FC236}">
                <a16:creationId xmlns:a16="http://schemas.microsoft.com/office/drawing/2014/main" id="{70182F21-81EA-2355-1CBC-4E03F15C9E57}"/>
              </a:ext>
            </a:extLst>
          </p:cNvPr>
          <p:cNvSpPr/>
          <p:nvPr/>
        </p:nvSpPr>
        <p:spPr>
          <a:xfrm>
            <a:off x="12281513" y="5411852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Unit tests for each implementation </a:t>
            </a:r>
          </a:p>
        </p:txBody>
      </p:sp>
      <p:sp>
        <p:nvSpPr>
          <p:cNvPr id="19" name="Google Shape;88;p15">
            <a:extLst>
              <a:ext uri="{FF2B5EF4-FFF2-40B4-BE49-F238E27FC236}">
                <a16:creationId xmlns:a16="http://schemas.microsoft.com/office/drawing/2014/main" id="{DB0E97DD-5E7A-C016-5427-2183A895800E}"/>
              </a:ext>
            </a:extLst>
          </p:cNvPr>
          <p:cNvSpPr/>
          <p:nvPr/>
        </p:nvSpPr>
        <p:spPr>
          <a:xfrm>
            <a:off x="9308853" y="6964110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Demo video of the new features in the game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88;p15">
            <a:extLst>
              <a:ext uri="{FF2B5EF4-FFF2-40B4-BE49-F238E27FC236}">
                <a16:creationId xmlns:a16="http://schemas.microsoft.com/office/drawing/2014/main" id="{1A4C6210-1124-DEB3-52D1-D4BD6666C963}"/>
              </a:ext>
            </a:extLst>
          </p:cNvPr>
          <p:cNvSpPr/>
          <p:nvPr/>
        </p:nvSpPr>
        <p:spPr>
          <a:xfrm>
            <a:off x="9308855" y="8372275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Video of the progress of the scrum board</a:t>
            </a:r>
          </a:p>
        </p:txBody>
      </p:sp>
    </p:spTree>
    <p:extLst>
      <p:ext uri="{BB962C8B-B14F-4D97-AF65-F5344CB8AC3E}">
        <p14:creationId xmlns:p14="http://schemas.microsoft.com/office/powerpoint/2010/main" val="26483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ED0A0845-CF4F-8B6F-E687-0A4D5D5F8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40A6E0B6-F9E0-66E2-F980-DEDFE923AD24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4435775B-33BB-7F83-833C-6AE36AC90319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Student ID</a:t>
            </a: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9B11F66D-13BB-A908-0ABF-140C68AB1EFC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Story</a:t>
            </a: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6C863121-85C3-E718-3149-12C9613A61C5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To Do</a:t>
            </a: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0A1E3AA7-0683-38E6-B8CB-5F6556C65C55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Doing</a:t>
            </a: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3F61AB7E-380C-E2EA-0420-A2FC30183881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Review</a:t>
            </a: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DA42A99D-93D0-D911-A634-ABCD7D96B7C9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Done</a:t>
            </a: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49AAA591-AFDB-52DB-B856-7FB268D0954B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Backlog</a:t>
            </a: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BDD8B750-3018-BA20-4581-E15594AA680A}"/>
              </a:ext>
            </a:extLst>
          </p:cNvPr>
          <p:cNvSpPr/>
          <p:nvPr/>
        </p:nvSpPr>
        <p:spPr>
          <a:xfrm>
            <a:off x="3259795" y="517140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Everyone</a:t>
            </a: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2E176572-E127-5C7F-727B-B01B44A08CA6}"/>
              </a:ext>
            </a:extLst>
          </p:cNvPr>
          <p:cNvSpPr/>
          <p:nvPr/>
        </p:nvSpPr>
        <p:spPr>
          <a:xfrm>
            <a:off x="18668888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T2: Everyone: Playing the game so we can experience the user’s needs.</a:t>
            </a:r>
          </a:p>
        </p:txBody>
      </p:sp>
      <p:sp>
        <p:nvSpPr>
          <p:cNvPr id="2" name="Google Shape;88;p15">
            <a:extLst>
              <a:ext uri="{FF2B5EF4-FFF2-40B4-BE49-F238E27FC236}">
                <a16:creationId xmlns:a16="http://schemas.microsoft.com/office/drawing/2014/main" id="{1429B731-03EC-9631-ADDB-9665D028BA7E}"/>
              </a:ext>
            </a:extLst>
          </p:cNvPr>
          <p:cNvSpPr/>
          <p:nvPr/>
        </p:nvSpPr>
        <p:spPr>
          <a:xfrm>
            <a:off x="18668888" y="1957876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T1: Make 3 User Stories</a:t>
            </a:r>
          </a:p>
        </p:txBody>
      </p:sp>
      <p:sp>
        <p:nvSpPr>
          <p:cNvPr id="88" name="Google Shape;88;p15">
            <a:extLst>
              <a:ext uri="{FF2B5EF4-FFF2-40B4-BE49-F238E27FC236}">
                <a16:creationId xmlns:a16="http://schemas.microsoft.com/office/drawing/2014/main" id="{1CADF40D-C183-1F85-AFB6-F6C9FAF97A53}"/>
              </a:ext>
            </a:extLst>
          </p:cNvPr>
          <p:cNvSpPr/>
          <p:nvPr/>
        </p:nvSpPr>
        <p:spPr>
          <a:xfrm>
            <a:off x="18668887" y="2681513"/>
            <a:ext cx="2491725" cy="110155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Find code smells</a:t>
            </a: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907B54C5-FEC1-9FF0-27CA-3A05FD2AE714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Google Shape;88;p15">
            <a:extLst>
              <a:ext uri="{FF2B5EF4-FFF2-40B4-BE49-F238E27FC236}">
                <a16:creationId xmlns:a16="http://schemas.microsoft.com/office/drawing/2014/main" id="{F907924C-BB73-881A-3900-595CEC6D5705}"/>
              </a:ext>
            </a:extLst>
          </p:cNvPr>
          <p:cNvSpPr/>
          <p:nvPr/>
        </p:nvSpPr>
        <p:spPr>
          <a:xfrm>
            <a:off x="405410" y="694221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noProof="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3:</a:t>
            </a:r>
            <a:r>
              <a:rPr lang="en-US" noProof="0" dirty="0">
                <a:latin typeface="Consolas" panose="020B0609020204030204" pitchFamily="49" charset="0"/>
              </a:rPr>
              <a:t>As a player brand new to Mindustry, I want a more intuitive game tutorial so that I don't get lost and demotivated</a:t>
            </a:r>
            <a:r>
              <a:rPr lang="en-US" noProof="0" dirty="0"/>
              <a:t>.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88;p15">
            <a:extLst>
              <a:ext uri="{FF2B5EF4-FFF2-40B4-BE49-F238E27FC236}">
                <a16:creationId xmlns:a16="http://schemas.microsoft.com/office/drawing/2014/main" id="{7FE746D4-E994-6EC9-77EF-C2F4A821700B}"/>
              </a:ext>
            </a:extLst>
          </p:cNvPr>
          <p:cNvSpPr/>
          <p:nvPr/>
        </p:nvSpPr>
        <p:spPr>
          <a:xfrm>
            <a:off x="438912" y="4038458"/>
            <a:ext cx="1867552" cy="282631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>
                <a:latin typeface="Consolas"/>
                <a:ea typeface="Consolas"/>
                <a:cs typeface="Consolas"/>
                <a:sym typeface="Consolas"/>
              </a:rPr>
              <a:t>US 2: As an experienced player I want to have a greater diversity of towers that can help me automate the way I defend orders.</a:t>
            </a:r>
            <a:endParaRPr lang="en-US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88;p15">
            <a:extLst>
              <a:ext uri="{FF2B5EF4-FFF2-40B4-BE49-F238E27FC236}">
                <a16:creationId xmlns:a16="http://schemas.microsoft.com/office/drawing/2014/main" id="{3BBB1C78-6A28-ADA7-A78F-EB8D90D65CBF}"/>
              </a:ext>
            </a:extLst>
          </p:cNvPr>
          <p:cNvSpPr/>
          <p:nvPr/>
        </p:nvSpPr>
        <p:spPr>
          <a:xfrm>
            <a:off x="405410" y="6982925"/>
            <a:ext cx="1867580" cy="373252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noProof="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1: </a:t>
            </a:r>
            <a:r>
              <a:rPr lang="en-US" dirty="0">
                <a:latin typeface="Consolas" panose="020B0609020204030204" pitchFamily="49" charset="0"/>
              </a:rPr>
              <a:t>As a player, I want to be able to place customizable markers on the map to identify important areas, so that I can better organize my base and communicate with myself throughout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88;p15">
            <a:extLst>
              <a:ext uri="{FF2B5EF4-FFF2-40B4-BE49-F238E27FC236}">
                <a16:creationId xmlns:a16="http://schemas.microsoft.com/office/drawing/2014/main" id="{269C2250-EF4B-9073-23E3-7F2C35D0E8E9}"/>
              </a:ext>
            </a:extLst>
          </p:cNvPr>
          <p:cNvSpPr/>
          <p:nvPr/>
        </p:nvSpPr>
        <p:spPr>
          <a:xfrm>
            <a:off x="18683637" y="3151744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Identify Design Patterns</a:t>
            </a:r>
          </a:p>
        </p:txBody>
      </p:sp>
      <p:sp>
        <p:nvSpPr>
          <p:cNvPr id="7" name="Google Shape;88;p15">
            <a:extLst>
              <a:ext uri="{FF2B5EF4-FFF2-40B4-BE49-F238E27FC236}">
                <a16:creationId xmlns:a16="http://schemas.microsoft.com/office/drawing/2014/main" id="{AE1EC06A-A5A9-05A5-604C-A16733C2B2D7}"/>
              </a:ext>
            </a:extLst>
          </p:cNvPr>
          <p:cNvSpPr/>
          <p:nvPr/>
        </p:nvSpPr>
        <p:spPr>
          <a:xfrm>
            <a:off x="18667367" y="3895475"/>
            <a:ext cx="249324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Create Use Case Diagrams</a:t>
            </a: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8335DA69-2E70-D8D4-13A9-2D9373AD3320}"/>
              </a:ext>
            </a:extLst>
          </p:cNvPr>
          <p:cNvSpPr/>
          <p:nvPr/>
        </p:nvSpPr>
        <p:spPr>
          <a:xfrm>
            <a:off x="18633867" y="4583808"/>
            <a:ext cx="2560243" cy="146481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Write Codebase Metrics Assessment report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90;p15">
            <a:extLst>
              <a:ext uri="{FF2B5EF4-FFF2-40B4-BE49-F238E27FC236}">
                <a16:creationId xmlns:a16="http://schemas.microsoft.com/office/drawing/2014/main" id="{D7BBE59C-F2BB-C7BF-FBF1-00C62624A4D8}"/>
              </a:ext>
            </a:extLst>
          </p:cNvPr>
          <p:cNvSpPr/>
          <p:nvPr/>
        </p:nvSpPr>
        <p:spPr>
          <a:xfrm>
            <a:off x="18664347" y="5271690"/>
            <a:ext cx="2495724" cy="164142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Update all User Stories with final functionalities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D6B894CD-F066-9278-6F95-FB6A0E287CBA}"/>
              </a:ext>
            </a:extLst>
          </p:cNvPr>
          <p:cNvSpPr/>
          <p:nvPr/>
        </p:nvSpPr>
        <p:spPr>
          <a:xfrm>
            <a:off x="18664889" y="6220359"/>
            <a:ext cx="2495723" cy="156110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Create User Cases Diagrams for each User Story</a:t>
            </a:r>
          </a:p>
        </p:txBody>
      </p:sp>
      <p:sp>
        <p:nvSpPr>
          <p:cNvPr id="13" name="Google Shape;90;p15">
            <a:extLst>
              <a:ext uri="{FF2B5EF4-FFF2-40B4-BE49-F238E27FC236}">
                <a16:creationId xmlns:a16="http://schemas.microsoft.com/office/drawing/2014/main" id="{A1207A88-5699-56A9-E2A7-D85B763FEA21}"/>
              </a:ext>
            </a:extLst>
          </p:cNvPr>
          <p:cNvSpPr/>
          <p:nvPr/>
        </p:nvSpPr>
        <p:spPr>
          <a:xfrm>
            <a:off x="18683637" y="7093495"/>
            <a:ext cx="2495722" cy="12787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Write Use Case textual descriptions</a:t>
            </a:r>
          </a:p>
        </p:txBody>
      </p:sp>
      <p:sp>
        <p:nvSpPr>
          <p:cNvPr id="15" name="Google Shape;90;p15">
            <a:extLst>
              <a:ext uri="{FF2B5EF4-FFF2-40B4-BE49-F238E27FC236}">
                <a16:creationId xmlns:a16="http://schemas.microsoft.com/office/drawing/2014/main" id="{0B67444A-F7D5-2313-B3C9-85F9EE3B2D11}"/>
              </a:ext>
            </a:extLst>
          </p:cNvPr>
          <p:cNvSpPr/>
          <p:nvPr/>
        </p:nvSpPr>
        <p:spPr>
          <a:xfrm>
            <a:off x="18664347" y="7801665"/>
            <a:ext cx="2495724" cy="164142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latin typeface="Consolas"/>
                <a:ea typeface="Consolas"/>
                <a:cs typeface="Consolas"/>
                <a:sym typeface="Consolas"/>
              </a:rPr>
              <a:t>Create a first version of the implementation of e</a:t>
            </a:r>
            <a:r>
              <a:rPr lang="en-US" sz="1800" dirty="0">
                <a:latin typeface="Consolas"/>
                <a:ea typeface="Consolas"/>
                <a:cs typeface="Consolas"/>
                <a:sym typeface="Consolas"/>
              </a:rPr>
              <a:t>very User Story</a:t>
            </a:r>
            <a:endParaRPr lang="en-US" sz="1800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88;p15">
            <a:extLst>
              <a:ext uri="{FF2B5EF4-FFF2-40B4-BE49-F238E27FC236}">
                <a16:creationId xmlns:a16="http://schemas.microsoft.com/office/drawing/2014/main" id="{C673A74C-C970-4144-8342-8CC5F4C12F1E}"/>
              </a:ext>
            </a:extLst>
          </p:cNvPr>
          <p:cNvSpPr/>
          <p:nvPr/>
        </p:nvSpPr>
        <p:spPr>
          <a:xfrm>
            <a:off x="12281513" y="3944911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Sequence Diagrams of each implementation</a:t>
            </a:r>
          </a:p>
        </p:txBody>
      </p:sp>
      <p:sp>
        <p:nvSpPr>
          <p:cNvPr id="14" name="Google Shape;88;p15">
            <a:extLst>
              <a:ext uri="{FF2B5EF4-FFF2-40B4-BE49-F238E27FC236}">
                <a16:creationId xmlns:a16="http://schemas.microsoft.com/office/drawing/2014/main" id="{46F2048D-499A-9273-42E7-167E8EFCFC11}"/>
              </a:ext>
            </a:extLst>
          </p:cNvPr>
          <p:cNvSpPr/>
          <p:nvPr/>
        </p:nvSpPr>
        <p:spPr>
          <a:xfrm>
            <a:off x="12281514" y="2512985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Class Diagrams of each implementation</a:t>
            </a:r>
          </a:p>
        </p:txBody>
      </p:sp>
      <p:sp>
        <p:nvSpPr>
          <p:cNvPr id="16" name="Google Shape;88;p15">
            <a:extLst>
              <a:ext uri="{FF2B5EF4-FFF2-40B4-BE49-F238E27FC236}">
                <a16:creationId xmlns:a16="http://schemas.microsoft.com/office/drawing/2014/main" id="{DECAA20D-6117-640C-43BA-2B8376E05E85}"/>
              </a:ext>
            </a:extLst>
          </p:cNvPr>
          <p:cNvSpPr/>
          <p:nvPr/>
        </p:nvSpPr>
        <p:spPr>
          <a:xfrm>
            <a:off x="15532407" y="849419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Final Version of each implementation</a:t>
            </a:r>
          </a:p>
        </p:txBody>
      </p:sp>
      <p:sp>
        <p:nvSpPr>
          <p:cNvPr id="18" name="Google Shape;88;p15">
            <a:extLst>
              <a:ext uri="{FF2B5EF4-FFF2-40B4-BE49-F238E27FC236}">
                <a16:creationId xmlns:a16="http://schemas.microsoft.com/office/drawing/2014/main" id="{AAA7B00A-FC0A-BCDA-CBB3-B1EDDA8B94FA}"/>
              </a:ext>
            </a:extLst>
          </p:cNvPr>
          <p:cNvSpPr/>
          <p:nvPr/>
        </p:nvSpPr>
        <p:spPr>
          <a:xfrm>
            <a:off x="12281513" y="5411852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Unit tests for each implementation </a:t>
            </a:r>
          </a:p>
        </p:txBody>
      </p:sp>
      <p:sp>
        <p:nvSpPr>
          <p:cNvPr id="19" name="Google Shape;88;p15">
            <a:extLst>
              <a:ext uri="{FF2B5EF4-FFF2-40B4-BE49-F238E27FC236}">
                <a16:creationId xmlns:a16="http://schemas.microsoft.com/office/drawing/2014/main" id="{CA09B2DA-377A-590F-5167-BD58BA86B160}"/>
              </a:ext>
            </a:extLst>
          </p:cNvPr>
          <p:cNvSpPr/>
          <p:nvPr/>
        </p:nvSpPr>
        <p:spPr>
          <a:xfrm>
            <a:off x="9308853" y="6964110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Demo video of the new features in the game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88;p15">
            <a:extLst>
              <a:ext uri="{FF2B5EF4-FFF2-40B4-BE49-F238E27FC236}">
                <a16:creationId xmlns:a16="http://schemas.microsoft.com/office/drawing/2014/main" id="{2AD5F495-F11F-5FFB-680E-6EC662346BE2}"/>
              </a:ext>
            </a:extLst>
          </p:cNvPr>
          <p:cNvSpPr/>
          <p:nvPr/>
        </p:nvSpPr>
        <p:spPr>
          <a:xfrm>
            <a:off x="9308855" y="8372275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Video of the progress of the scrum board</a:t>
            </a:r>
          </a:p>
        </p:txBody>
      </p:sp>
    </p:spTree>
    <p:extLst>
      <p:ext uri="{BB962C8B-B14F-4D97-AF65-F5344CB8AC3E}">
        <p14:creationId xmlns:p14="http://schemas.microsoft.com/office/powerpoint/2010/main" val="2688754398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485</TotalTime>
  <Words>834</Words>
  <Application>Microsoft Office PowerPoint</Application>
  <PresentationFormat>Personalizados</PresentationFormat>
  <Paragraphs>109</Paragraphs>
  <Slides>6</Slides>
  <Notes>6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6</vt:i4>
      </vt:variant>
    </vt:vector>
  </HeadingPairs>
  <TitlesOfParts>
    <vt:vector size="9" baseType="lpstr">
      <vt:lpstr>Arial</vt:lpstr>
      <vt:lpstr>Consolas</vt:lpstr>
      <vt:lpstr>Simple Light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Leandro Rodrigues</dc:creator>
  <cp:lastModifiedBy>Filipe Moreira Braz Nobre</cp:lastModifiedBy>
  <cp:revision>22</cp:revision>
  <dcterms:modified xsi:type="dcterms:W3CDTF">2025-12-01T00:30:14Z</dcterms:modified>
</cp:coreProperties>
</file>