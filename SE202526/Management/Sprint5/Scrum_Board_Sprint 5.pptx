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81" r:id="rId4"/>
    <p:sldId id="282" r:id="rId5"/>
    <p:sldId id="283" r:id="rId6"/>
    <p:sldId id="284" r:id="rId7"/>
  </p:sldIdLst>
  <p:sldSz cx="21599525" cy="1079976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402">
          <p15:clr>
            <a:srgbClr val="747775"/>
          </p15:clr>
        </p15:guide>
        <p15:guide id="2" pos="6803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EAD3"/>
    <a:srgbClr val="D0E0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EEEFC6-9EA4-4517-B1F5-B4D7CDDF9AAF}" v="18" dt="2025-11-13T16:40:41.3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427" y="38"/>
      </p:cViewPr>
      <p:guideLst>
        <p:guide orient="horz" pos="3402"/>
        <p:guide pos="68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78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50b307b58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58" name="Google Shape;58;g3850b307b58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D0CE1261-60B2-15FC-D40B-7897D6AA0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50b307b58_0_0:notes">
            <a:extLst>
              <a:ext uri="{FF2B5EF4-FFF2-40B4-BE49-F238E27FC236}">
                <a16:creationId xmlns:a16="http://schemas.microsoft.com/office/drawing/2014/main" id="{776190AF-551F-3F3A-D788-4AA35631D3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64" name="Google Shape;64;g3850b307b58_0_0:notes">
            <a:extLst>
              <a:ext uri="{FF2B5EF4-FFF2-40B4-BE49-F238E27FC236}">
                <a16:creationId xmlns:a16="http://schemas.microsoft.com/office/drawing/2014/main" id="{C8076884-8897-3DFB-A2AC-6E1C3DAC8A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23241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7257055A-BB02-3D9B-3AC0-DA0CF127D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50b307b58_0_0:notes">
            <a:extLst>
              <a:ext uri="{FF2B5EF4-FFF2-40B4-BE49-F238E27FC236}">
                <a16:creationId xmlns:a16="http://schemas.microsoft.com/office/drawing/2014/main" id="{A53D1A4E-A4D0-A5D2-15C4-A4173C4A1A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64" name="Google Shape;64;g3850b307b58_0_0:notes">
            <a:extLst>
              <a:ext uri="{FF2B5EF4-FFF2-40B4-BE49-F238E27FC236}">
                <a16:creationId xmlns:a16="http://schemas.microsoft.com/office/drawing/2014/main" id="{D0268317-B087-C011-9C2D-53B16E7D84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51628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C8E2CD27-E608-48A6-2729-3790DB67D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50b307b58_0_0:notes">
            <a:extLst>
              <a:ext uri="{FF2B5EF4-FFF2-40B4-BE49-F238E27FC236}">
                <a16:creationId xmlns:a16="http://schemas.microsoft.com/office/drawing/2014/main" id="{E801CF32-C502-638D-59C8-D61837C475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64" name="Google Shape;64;g3850b307b58_0_0:notes">
            <a:extLst>
              <a:ext uri="{FF2B5EF4-FFF2-40B4-BE49-F238E27FC236}">
                <a16:creationId xmlns:a16="http://schemas.microsoft.com/office/drawing/2014/main" id="{D08EAE76-B4F8-6EB4-F25C-A6CACB1CB6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3120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D9F9D4E7-3CDF-22E0-07CA-72284E437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50b307b58_0_0:notes">
            <a:extLst>
              <a:ext uri="{FF2B5EF4-FFF2-40B4-BE49-F238E27FC236}">
                <a16:creationId xmlns:a16="http://schemas.microsoft.com/office/drawing/2014/main" id="{67205CE9-B1BA-8F46-8625-4BBDD21636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64" name="Google Shape;64;g3850b307b58_0_0:notes">
            <a:extLst>
              <a:ext uri="{FF2B5EF4-FFF2-40B4-BE49-F238E27FC236}">
                <a16:creationId xmlns:a16="http://schemas.microsoft.com/office/drawing/2014/main" id="{393D9CC2-CAD7-2685-3F63-AB80FF4083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8870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36319" y="1563412"/>
            <a:ext cx="20127600" cy="43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36299" y="5950919"/>
            <a:ext cx="20127600" cy="16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736299" y="4516220"/>
            <a:ext cx="20127600" cy="17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736299" y="2419895"/>
            <a:ext cx="20127600" cy="71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736299" y="2419895"/>
            <a:ext cx="9448500" cy="71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11415118" y="2419895"/>
            <a:ext cx="9448500" cy="71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736299" y="1166614"/>
            <a:ext cx="6633000" cy="158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736299" y="2917795"/>
            <a:ext cx="6633000" cy="667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1158071" y="945197"/>
            <a:ext cx="15042000" cy="858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0800000" y="-262"/>
            <a:ext cx="10800000" cy="108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627165" y="2589344"/>
            <a:ext cx="9555900" cy="31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627165" y="5885722"/>
            <a:ext cx="9555900" cy="259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11668110" y="1520367"/>
            <a:ext cx="9063900" cy="775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736299" y="8883097"/>
            <a:ext cx="14170500" cy="12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736299" y="2322572"/>
            <a:ext cx="20127600" cy="412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736299" y="6618845"/>
            <a:ext cx="20127600" cy="27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36299" y="2419895"/>
            <a:ext cx="20127600" cy="71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Vmw_I2.png"/>
          <p:cNvPicPr preferRelativeResize="0"/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9838" y="4015113"/>
            <a:ext cx="19880325" cy="276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Vmw_I2.png"/>
          <p:cNvPicPr preferRelativeResize="0"/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/>
          <p:nvPr/>
        </p:nvSpPr>
        <p:spPr>
          <a:xfrm>
            <a:off x="814250" y="3300663"/>
            <a:ext cx="19971500" cy="41986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 dirty="0">
                <a:ln w="114300" cap="flat" cmpd="sng">
                  <a:solidFill>
                    <a:srgbClr val="434343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Consolas"/>
              </a:rPr>
              <a:t>Sprint </a:t>
            </a:r>
            <a:r>
              <a:rPr lang="pt-PT" b="1" dirty="0">
                <a:ln w="114300" cap="flat" cmpd="sng">
                  <a:solidFill>
                    <a:srgbClr val="434343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Consolas"/>
              </a:rPr>
              <a:t>5</a:t>
            </a:r>
            <a:endParaRPr b="1" i="0" dirty="0">
              <a:ln w="114300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lt1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9704C58B-5C77-AF59-A0BA-EB7C8DC74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5">
            <a:extLst>
              <a:ext uri="{FF2B5EF4-FFF2-40B4-BE49-F238E27FC236}">
                <a16:creationId xmlns:a16="http://schemas.microsoft.com/office/drawing/2014/main" id="{3EB5F4E1-9E7F-280F-2481-1C661E809333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D7A681BB-433F-867C-9788-768E2044A8D3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Student ID</a:t>
            </a:r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28BAB664-B998-3C4A-A5D1-1C232BEDBD08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Story</a:t>
            </a:r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7A1E5D12-556F-AF29-F763-728A2B8E32BD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To Do</a:t>
            </a:r>
          </a:p>
        </p:txBody>
      </p:sp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494A5928-84FF-D683-B38B-523F1FDC581E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Doing</a:t>
            </a:r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E0772AE4-F1B2-E8E4-001B-65F227D7F357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Review</a:t>
            </a:r>
          </a:p>
        </p:txBody>
      </p: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AAF0DA2C-3B2A-8FF4-0155-95DA891B1F1A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Done</a:t>
            </a:r>
          </a:p>
        </p:txBody>
      </p:sp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2E66892C-EE95-F2A7-B370-17B91C30360B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Backlog</a:t>
            </a:r>
          </a:p>
        </p:txBody>
      </p: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DA833C8D-38C3-7CC9-7572-5C2A79ECDF80}"/>
              </a:ext>
            </a:extLst>
          </p:cNvPr>
          <p:cNvSpPr/>
          <p:nvPr/>
        </p:nvSpPr>
        <p:spPr>
          <a:xfrm>
            <a:off x="3211113" y="539700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Everyone</a:t>
            </a:r>
          </a:p>
        </p:txBody>
      </p:sp>
      <p:sp>
        <p:nvSpPr>
          <p:cNvPr id="3" name="Google Shape;90;p15">
            <a:extLst>
              <a:ext uri="{FF2B5EF4-FFF2-40B4-BE49-F238E27FC236}">
                <a16:creationId xmlns:a16="http://schemas.microsoft.com/office/drawing/2014/main" id="{BB5280D2-99D3-EE2A-06E4-2395721EADCE}"/>
              </a:ext>
            </a:extLst>
          </p:cNvPr>
          <p:cNvSpPr/>
          <p:nvPr/>
        </p:nvSpPr>
        <p:spPr>
          <a:xfrm>
            <a:off x="18668888" y="849419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T2: Everyone: Playing the game so we can experience the user’s needs.</a:t>
            </a:r>
          </a:p>
        </p:txBody>
      </p:sp>
      <p:sp>
        <p:nvSpPr>
          <p:cNvPr id="2" name="Google Shape;88;p15">
            <a:extLst>
              <a:ext uri="{FF2B5EF4-FFF2-40B4-BE49-F238E27FC236}">
                <a16:creationId xmlns:a16="http://schemas.microsoft.com/office/drawing/2014/main" id="{21BE30FA-B876-D6AF-3575-091CC97498CF}"/>
              </a:ext>
            </a:extLst>
          </p:cNvPr>
          <p:cNvSpPr/>
          <p:nvPr/>
        </p:nvSpPr>
        <p:spPr>
          <a:xfrm>
            <a:off x="18668888" y="1957876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T1: Make 3 User Stories</a:t>
            </a:r>
          </a:p>
        </p:txBody>
      </p:sp>
      <p:sp>
        <p:nvSpPr>
          <p:cNvPr id="88" name="Google Shape;88;p15">
            <a:extLst>
              <a:ext uri="{FF2B5EF4-FFF2-40B4-BE49-F238E27FC236}">
                <a16:creationId xmlns:a16="http://schemas.microsoft.com/office/drawing/2014/main" id="{0F48D615-45DC-C6FA-88BA-42E7266DD60A}"/>
              </a:ext>
            </a:extLst>
          </p:cNvPr>
          <p:cNvSpPr/>
          <p:nvPr/>
        </p:nvSpPr>
        <p:spPr>
          <a:xfrm>
            <a:off x="18668888" y="2681513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0" dirty="0">
                <a:latin typeface="Consolas"/>
                <a:ea typeface="Consolas"/>
                <a:cs typeface="Consolas"/>
                <a:sym typeface="Consolas"/>
              </a:rPr>
              <a:t>Find code smells</a:t>
            </a:r>
          </a:p>
        </p:txBody>
      </p:sp>
      <p:cxnSp>
        <p:nvCxnSpPr>
          <p:cNvPr id="91" name="Google Shape;91;p15">
            <a:extLst>
              <a:ext uri="{FF2B5EF4-FFF2-40B4-BE49-F238E27FC236}">
                <a16:creationId xmlns:a16="http://schemas.microsoft.com/office/drawing/2014/main" id="{8688DBB5-34AC-E4A9-C11A-B95980EA0E49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88;p15">
            <a:extLst>
              <a:ext uri="{FF2B5EF4-FFF2-40B4-BE49-F238E27FC236}">
                <a16:creationId xmlns:a16="http://schemas.microsoft.com/office/drawing/2014/main" id="{2B054094-CE21-A6CA-3A65-576EC1D42C53}"/>
              </a:ext>
            </a:extLst>
          </p:cNvPr>
          <p:cNvSpPr/>
          <p:nvPr/>
        </p:nvSpPr>
        <p:spPr>
          <a:xfrm>
            <a:off x="405410" y="694221"/>
            <a:ext cx="1867580" cy="3160613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noProof="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US 3:</a:t>
            </a:r>
            <a:r>
              <a:rPr lang="en-US" noProof="0" dirty="0">
                <a:latin typeface="Consolas" panose="020B0609020204030204" pitchFamily="49" charset="0"/>
              </a:rPr>
              <a:t>As a player brand new to Mindustry, I want a more intuitive game tutorial so that I don't get lost and demotivated</a:t>
            </a:r>
            <a:r>
              <a:rPr lang="en-US" noProof="0" dirty="0"/>
              <a:t>.</a:t>
            </a: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Google Shape;88;p15">
            <a:extLst>
              <a:ext uri="{FF2B5EF4-FFF2-40B4-BE49-F238E27FC236}">
                <a16:creationId xmlns:a16="http://schemas.microsoft.com/office/drawing/2014/main" id="{10B03003-3C3C-5DEB-674B-549EA0D2F1D9}"/>
              </a:ext>
            </a:extLst>
          </p:cNvPr>
          <p:cNvSpPr/>
          <p:nvPr/>
        </p:nvSpPr>
        <p:spPr>
          <a:xfrm>
            <a:off x="438912" y="4038458"/>
            <a:ext cx="1867552" cy="282631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>
                <a:latin typeface="Consolas"/>
                <a:ea typeface="Consolas"/>
                <a:cs typeface="Consolas"/>
                <a:sym typeface="Consolas"/>
              </a:rPr>
              <a:t>US 2: As an experienced player I want to have a greater diversity of towers that can help me automate the way I defend orders.</a:t>
            </a:r>
            <a:endParaRPr lang="en-US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Google Shape;88;p15">
            <a:extLst>
              <a:ext uri="{FF2B5EF4-FFF2-40B4-BE49-F238E27FC236}">
                <a16:creationId xmlns:a16="http://schemas.microsoft.com/office/drawing/2014/main" id="{6EEA2D65-B267-0E99-E549-EFCE148753F1}"/>
              </a:ext>
            </a:extLst>
          </p:cNvPr>
          <p:cNvSpPr/>
          <p:nvPr/>
        </p:nvSpPr>
        <p:spPr>
          <a:xfrm>
            <a:off x="405410" y="6982925"/>
            <a:ext cx="1867580" cy="373252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noProof="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US 1: </a:t>
            </a:r>
            <a:r>
              <a:rPr lang="en-US" dirty="0">
                <a:latin typeface="Consolas" panose="020B0609020204030204" pitchFamily="49" charset="0"/>
              </a:rPr>
              <a:t>As a player, I want to be able to place customizable markers on the map to identify important areas, so that I can better organize my base and communicate with myself throughout the game.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Google Shape;88;p15">
            <a:extLst>
              <a:ext uri="{FF2B5EF4-FFF2-40B4-BE49-F238E27FC236}">
                <a16:creationId xmlns:a16="http://schemas.microsoft.com/office/drawing/2014/main" id="{FDFEEDDA-E5EF-C4D0-1575-368367D0EAFD}"/>
              </a:ext>
            </a:extLst>
          </p:cNvPr>
          <p:cNvSpPr/>
          <p:nvPr/>
        </p:nvSpPr>
        <p:spPr>
          <a:xfrm>
            <a:off x="18668888" y="3606376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0" dirty="0">
                <a:latin typeface="Consolas"/>
                <a:ea typeface="Consolas"/>
                <a:cs typeface="Consolas"/>
                <a:sym typeface="Consolas"/>
              </a:rPr>
              <a:t>Identify Design Patterns</a:t>
            </a:r>
          </a:p>
        </p:txBody>
      </p:sp>
      <p:sp>
        <p:nvSpPr>
          <p:cNvPr id="7" name="Google Shape;88;p15">
            <a:extLst>
              <a:ext uri="{FF2B5EF4-FFF2-40B4-BE49-F238E27FC236}">
                <a16:creationId xmlns:a16="http://schemas.microsoft.com/office/drawing/2014/main" id="{BE667F0D-409E-DE81-709D-74810E55F453}"/>
              </a:ext>
            </a:extLst>
          </p:cNvPr>
          <p:cNvSpPr/>
          <p:nvPr/>
        </p:nvSpPr>
        <p:spPr>
          <a:xfrm>
            <a:off x="18667368" y="4794728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0" dirty="0">
                <a:latin typeface="Consolas"/>
                <a:ea typeface="Consolas"/>
                <a:cs typeface="Consolas"/>
                <a:sym typeface="Consolas"/>
              </a:rPr>
              <a:t>Create Use Case Diagrams</a:t>
            </a:r>
          </a:p>
        </p:txBody>
      </p:sp>
      <p:sp>
        <p:nvSpPr>
          <p:cNvPr id="12" name="Google Shape;90;p15">
            <a:extLst>
              <a:ext uri="{FF2B5EF4-FFF2-40B4-BE49-F238E27FC236}">
                <a16:creationId xmlns:a16="http://schemas.microsoft.com/office/drawing/2014/main" id="{4A5424DA-4F9D-CD69-EB72-9BCA9A1503E3}"/>
              </a:ext>
            </a:extLst>
          </p:cNvPr>
          <p:cNvSpPr/>
          <p:nvPr/>
        </p:nvSpPr>
        <p:spPr>
          <a:xfrm>
            <a:off x="18665848" y="5815877"/>
            <a:ext cx="2410800" cy="2184131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Consolas"/>
                <a:ea typeface="Consolas"/>
                <a:cs typeface="Consolas"/>
                <a:sym typeface="Consolas"/>
              </a:rPr>
              <a:t>Write Codebase Metrics Assessment report</a:t>
            </a:r>
            <a:endParaRPr lang="en-US" sz="2000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" name="Google Shape;90;p15">
            <a:extLst>
              <a:ext uri="{FF2B5EF4-FFF2-40B4-BE49-F238E27FC236}">
                <a16:creationId xmlns:a16="http://schemas.microsoft.com/office/drawing/2014/main" id="{A5435A68-924E-BC61-504A-F32CE607B8B3}"/>
              </a:ext>
            </a:extLst>
          </p:cNvPr>
          <p:cNvSpPr/>
          <p:nvPr/>
        </p:nvSpPr>
        <p:spPr>
          <a:xfrm>
            <a:off x="9366071" y="1040088"/>
            <a:ext cx="2580647" cy="164142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Consolas"/>
                <a:ea typeface="Consolas"/>
                <a:cs typeface="Consolas"/>
                <a:sym typeface="Consolas"/>
              </a:rPr>
              <a:t>Update all User Stories with final functionalities</a:t>
            </a:r>
            <a:endParaRPr lang="en-US" sz="2000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90;p15">
            <a:extLst>
              <a:ext uri="{FF2B5EF4-FFF2-40B4-BE49-F238E27FC236}">
                <a16:creationId xmlns:a16="http://schemas.microsoft.com/office/drawing/2014/main" id="{F9A411F6-C0DC-84C9-103E-BEA195EEDB84}"/>
              </a:ext>
            </a:extLst>
          </p:cNvPr>
          <p:cNvSpPr/>
          <p:nvPr/>
        </p:nvSpPr>
        <p:spPr>
          <a:xfrm>
            <a:off x="9366071" y="3074280"/>
            <a:ext cx="2580647" cy="1561107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0" dirty="0">
                <a:latin typeface="Consolas"/>
                <a:ea typeface="Consolas"/>
                <a:cs typeface="Consolas"/>
                <a:sym typeface="Consolas"/>
              </a:rPr>
              <a:t>Create User Cases Diagrams for each User Story</a:t>
            </a:r>
          </a:p>
        </p:txBody>
      </p:sp>
      <p:sp>
        <p:nvSpPr>
          <p:cNvPr id="13" name="Google Shape;90;p15">
            <a:extLst>
              <a:ext uri="{FF2B5EF4-FFF2-40B4-BE49-F238E27FC236}">
                <a16:creationId xmlns:a16="http://schemas.microsoft.com/office/drawing/2014/main" id="{DEC19424-16FD-B407-B7F2-3A94A1F640B5}"/>
              </a:ext>
            </a:extLst>
          </p:cNvPr>
          <p:cNvSpPr/>
          <p:nvPr/>
        </p:nvSpPr>
        <p:spPr>
          <a:xfrm>
            <a:off x="9366070" y="5000101"/>
            <a:ext cx="2580647" cy="127878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0" dirty="0">
                <a:latin typeface="Consolas"/>
                <a:ea typeface="Consolas"/>
                <a:cs typeface="Consolas"/>
                <a:sym typeface="Consolas"/>
              </a:rPr>
              <a:t>Write Use Case textual descriptions</a:t>
            </a:r>
          </a:p>
        </p:txBody>
      </p:sp>
    </p:spTree>
    <p:extLst>
      <p:ext uri="{BB962C8B-B14F-4D97-AF65-F5344CB8AC3E}">
        <p14:creationId xmlns:p14="http://schemas.microsoft.com/office/powerpoint/2010/main" val="2911174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7CFDBADE-4FA8-E2F8-9919-B261FB7F8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5">
            <a:extLst>
              <a:ext uri="{FF2B5EF4-FFF2-40B4-BE49-F238E27FC236}">
                <a16:creationId xmlns:a16="http://schemas.microsoft.com/office/drawing/2014/main" id="{352A9D5F-0979-AA47-3F6B-A227C507B137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56D3D72C-45BF-0399-47A4-E78C23380A66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Student ID</a:t>
            </a:r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09400722-D9AA-CFC9-A9E8-59BA61C0D7DF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Story</a:t>
            </a:r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E8E06580-D1D4-1448-966C-789F37B11989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To Do</a:t>
            </a:r>
          </a:p>
        </p:txBody>
      </p:sp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9DA9D08E-5577-2DA6-786C-B680811C836D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Doing</a:t>
            </a:r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7D1B22BF-B7E3-DF27-73CB-0B680668E1B7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Review</a:t>
            </a:r>
          </a:p>
        </p:txBody>
      </p: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19D69DF0-18B3-A440-DDFD-FA803E27A44B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Done</a:t>
            </a:r>
          </a:p>
        </p:txBody>
      </p:sp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1572B8A4-9C15-102D-38ED-A8C11B22E7A6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Backlog</a:t>
            </a:r>
          </a:p>
        </p:txBody>
      </p: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11636E4C-DC2C-ABFE-7B72-59D5E8EE29D7}"/>
              </a:ext>
            </a:extLst>
          </p:cNvPr>
          <p:cNvSpPr/>
          <p:nvPr/>
        </p:nvSpPr>
        <p:spPr>
          <a:xfrm>
            <a:off x="3211113" y="539700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Everyone</a:t>
            </a:r>
          </a:p>
        </p:txBody>
      </p:sp>
      <p:sp>
        <p:nvSpPr>
          <p:cNvPr id="3" name="Google Shape;90;p15">
            <a:extLst>
              <a:ext uri="{FF2B5EF4-FFF2-40B4-BE49-F238E27FC236}">
                <a16:creationId xmlns:a16="http://schemas.microsoft.com/office/drawing/2014/main" id="{28660E54-635C-0343-6AC2-5BF5268488BB}"/>
              </a:ext>
            </a:extLst>
          </p:cNvPr>
          <p:cNvSpPr/>
          <p:nvPr/>
        </p:nvSpPr>
        <p:spPr>
          <a:xfrm>
            <a:off x="18668888" y="849419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T2: Everyone: Playing the game so we can experience the user’s needs.</a:t>
            </a:r>
          </a:p>
        </p:txBody>
      </p:sp>
      <p:sp>
        <p:nvSpPr>
          <p:cNvPr id="2" name="Google Shape;88;p15">
            <a:extLst>
              <a:ext uri="{FF2B5EF4-FFF2-40B4-BE49-F238E27FC236}">
                <a16:creationId xmlns:a16="http://schemas.microsoft.com/office/drawing/2014/main" id="{F459B494-21BA-3CD4-AA44-EFD4B9FD99C9}"/>
              </a:ext>
            </a:extLst>
          </p:cNvPr>
          <p:cNvSpPr/>
          <p:nvPr/>
        </p:nvSpPr>
        <p:spPr>
          <a:xfrm>
            <a:off x="18668888" y="1957876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T1: Make 3 User Stories</a:t>
            </a:r>
          </a:p>
        </p:txBody>
      </p:sp>
      <p:sp>
        <p:nvSpPr>
          <p:cNvPr id="88" name="Google Shape;88;p15">
            <a:extLst>
              <a:ext uri="{FF2B5EF4-FFF2-40B4-BE49-F238E27FC236}">
                <a16:creationId xmlns:a16="http://schemas.microsoft.com/office/drawing/2014/main" id="{B5AA152B-1055-FF38-622A-1EB3075A020C}"/>
              </a:ext>
            </a:extLst>
          </p:cNvPr>
          <p:cNvSpPr/>
          <p:nvPr/>
        </p:nvSpPr>
        <p:spPr>
          <a:xfrm>
            <a:off x="18668888" y="2681513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0" dirty="0">
                <a:latin typeface="Consolas"/>
                <a:ea typeface="Consolas"/>
                <a:cs typeface="Consolas"/>
                <a:sym typeface="Consolas"/>
              </a:rPr>
              <a:t>Find code smells</a:t>
            </a:r>
          </a:p>
        </p:txBody>
      </p:sp>
      <p:cxnSp>
        <p:nvCxnSpPr>
          <p:cNvPr id="91" name="Google Shape;91;p15">
            <a:extLst>
              <a:ext uri="{FF2B5EF4-FFF2-40B4-BE49-F238E27FC236}">
                <a16:creationId xmlns:a16="http://schemas.microsoft.com/office/drawing/2014/main" id="{108465AA-76B3-67A3-DBF0-2162455F3E2F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88;p15">
            <a:extLst>
              <a:ext uri="{FF2B5EF4-FFF2-40B4-BE49-F238E27FC236}">
                <a16:creationId xmlns:a16="http://schemas.microsoft.com/office/drawing/2014/main" id="{B58978B7-0370-3D0C-418E-980F556CC42E}"/>
              </a:ext>
            </a:extLst>
          </p:cNvPr>
          <p:cNvSpPr/>
          <p:nvPr/>
        </p:nvSpPr>
        <p:spPr>
          <a:xfrm>
            <a:off x="405410" y="694221"/>
            <a:ext cx="1867580" cy="3160613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noProof="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US 3:</a:t>
            </a:r>
            <a:r>
              <a:rPr lang="en-US" noProof="0" dirty="0">
                <a:latin typeface="Consolas" panose="020B0609020204030204" pitchFamily="49" charset="0"/>
              </a:rPr>
              <a:t>As a player brand new to Mindustry, I want a more intuitive game tutorial so that I don't get lost and demotivated</a:t>
            </a:r>
            <a:r>
              <a:rPr lang="en-US" noProof="0" dirty="0"/>
              <a:t>.</a:t>
            </a: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Google Shape;88;p15">
            <a:extLst>
              <a:ext uri="{FF2B5EF4-FFF2-40B4-BE49-F238E27FC236}">
                <a16:creationId xmlns:a16="http://schemas.microsoft.com/office/drawing/2014/main" id="{2713414E-CA01-D405-DCBC-E919BBE01B20}"/>
              </a:ext>
            </a:extLst>
          </p:cNvPr>
          <p:cNvSpPr/>
          <p:nvPr/>
        </p:nvSpPr>
        <p:spPr>
          <a:xfrm>
            <a:off x="438912" y="4038458"/>
            <a:ext cx="1867552" cy="282631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>
                <a:latin typeface="Consolas"/>
                <a:ea typeface="Consolas"/>
                <a:cs typeface="Consolas"/>
                <a:sym typeface="Consolas"/>
              </a:rPr>
              <a:t>US 2: As an experienced player I want to have a greater diversity of towers that can help me automate the way I defend orders.</a:t>
            </a:r>
            <a:endParaRPr lang="en-US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Google Shape;88;p15">
            <a:extLst>
              <a:ext uri="{FF2B5EF4-FFF2-40B4-BE49-F238E27FC236}">
                <a16:creationId xmlns:a16="http://schemas.microsoft.com/office/drawing/2014/main" id="{F45EB844-BC0F-A9AD-709E-9E30335801C4}"/>
              </a:ext>
            </a:extLst>
          </p:cNvPr>
          <p:cNvSpPr/>
          <p:nvPr/>
        </p:nvSpPr>
        <p:spPr>
          <a:xfrm>
            <a:off x="405410" y="6982925"/>
            <a:ext cx="1867580" cy="373252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noProof="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US 1: </a:t>
            </a:r>
            <a:r>
              <a:rPr lang="en-US" dirty="0">
                <a:latin typeface="Consolas" panose="020B0609020204030204" pitchFamily="49" charset="0"/>
              </a:rPr>
              <a:t>As a player, I want to be able to place customizable markers on the map to identify important areas, so that I can better organize my base and communicate with myself throughout the game.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Google Shape;88;p15">
            <a:extLst>
              <a:ext uri="{FF2B5EF4-FFF2-40B4-BE49-F238E27FC236}">
                <a16:creationId xmlns:a16="http://schemas.microsoft.com/office/drawing/2014/main" id="{B1D565CD-571E-F3A9-31EA-40627864F2B0}"/>
              </a:ext>
            </a:extLst>
          </p:cNvPr>
          <p:cNvSpPr/>
          <p:nvPr/>
        </p:nvSpPr>
        <p:spPr>
          <a:xfrm>
            <a:off x="18668888" y="3606376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0" dirty="0">
                <a:latin typeface="Consolas"/>
                <a:ea typeface="Consolas"/>
                <a:cs typeface="Consolas"/>
                <a:sym typeface="Consolas"/>
              </a:rPr>
              <a:t>Identify Design Patterns</a:t>
            </a:r>
          </a:p>
        </p:txBody>
      </p:sp>
      <p:sp>
        <p:nvSpPr>
          <p:cNvPr id="7" name="Google Shape;88;p15">
            <a:extLst>
              <a:ext uri="{FF2B5EF4-FFF2-40B4-BE49-F238E27FC236}">
                <a16:creationId xmlns:a16="http://schemas.microsoft.com/office/drawing/2014/main" id="{3E2982A8-3D01-0750-0C09-898143F9A5A0}"/>
              </a:ext>
            </a:extLst>
          </p:cNvPr>
          <p:cNvSpPr/>
          <p:nvPr/>
        </p:nvSpPr>
        <p:spPr>
          <a:xfrm>
            <a:off x="18667368" y="4794728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0" dirty="0">
                <a:latin typeface="Consolas"/>
                <a:ea typeface="Consolas"/>
                <a:cs typeface="Consolas"/>
                <a:sym typeface="Consolas"/>
              </a:rPr>
              <a:t>Create Use Case Diagrams</a:t>
            </a:r>
          </a:p>
        </p:txBody>
      </p:sp>
      <p:sp>
        <p:nvSpPr>
          <p:cNvPr id="12" name="Google Shape;90;p15">
            <a:extLst>
              <a:ext uri="{FF2B5EF4-FFF2-40B4-BE49-F238E27FC236}">
                <a16:creationId xmlns:a16="http://schemas.microsoft.com/office/drawing/2014/main" id="{A7FA24F1-18BB-25EA-1176-D4EE65466CAB}"/>
              </a:ext>
            </a:extLst>
          </p:cNvPr>
          <p:cNvSpPr/>
          <p:nvPr/>
        </p:nvSpPr>
        <p:spPr>
          <a:xfrm>
            <a:off x="18665848" y="5815877"/>
            <a:ext cx="2410800" cy="2184131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Consolas"/>
                <a:ea typeface="Consolas"/>
                <a:cs typeface="Consolas"/>
                <a:sym typeface="Consolas"/>
              </a:rPr>
              <a:t>Write Codebase Metrics Assessment report</a:t>
            </a:r>
            <a:endParaRPr lang="en-US" sz="2000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" name="Google Shape;90;p15">
            <a:extLst>
              <a:ext uri="{FF2B5EF4-FFF2-40B4-BE49-F238E27FC236}">
                <a16:creationId xmlns:a16="http://schemas.microsoft.com/office/drawing/2014/main" id="{B01A62B7-45A3-B743-9F07-362BBB64984C}"/>
              </a:ext>
            </a:extLst>
          </p:cNvPr>
          <p:cNvSpPr/>
          <p:nvPr/>
        </p:nvSpPr>
        <p:spPr>
          <a:xfrm>
            <a:off x="12311017" y="1040087"/>
            <a:ext cx="2495724" cy="164142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Consolas"/>
                <a:ea typeface="Consolas"/>
                <a:cs typeface="Consolas"/>
                <a:sym typeface="Consolas"/>
              </a:rPr>
              <a:t>Update all User Stories with final functionalities</a:t>
            </a:r>
            <a:endParaRPr lang="en-US" sz="2000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90;p15">
            <a:extLst>
              <a:ext uri="{FF2B5EF4-FFF2-40B4-BE49-F238E27FC236}">
                <a16:creationId xmlns:a16="http://schemas.microsoft.com/office/drawing/2014/main" id="{A230DC71-7C4A-54C6-5B2B-43BF54EC4361}"/>
              </a:ext>
            </a:extLst>
          </p:cNvPr>
          <p:cNvSpPr/>
          <p:nvPr/>
        </p:nvSpPr>
        <p:spPr>
          <a:xfrm>
            <a:off x="12311013" y="2881759"/>
            <a:ext cx="2495723" cy="1561107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0" dirty="0">
                <a:latin typeface="Consolas"/>
                <a:ea typeface="Consolas"/>
                <a:cs typeface="Consolas"/>
                <a:sym typeface="Consolas"/>
              </a:rPr>
              <a:t>Create User Cases Diagrams for each User Story</a:t>
            </a:r>
          </a:p>
        </p:txBody>
      </p:sp>
      <p:sp>
        <p:nvSpPr>
          <p:cNvPr id="13" name="Google Shape;90;p15">
            <a:extLst>
              <a:ext uri="{FF2B5EF4-FFF2-40B4-BE49-F238E27FC236}">
                <a16:creationId xmlns:a16="http://schemas.microsoft.com/office/drawing/2014/main" id="{75F4E4C2-3360-9218-6157-7E9CD5888815}"/>
              </a:ext>
            </a:extLst>
          </p:cNvPr>
          <p:cNvSpPr/>
          <p:nvPr/>
        </p:nvSpPr>
        <p:spPr>
          <a:xfrm>
            <a:off x="12311014" y="4757610"/>
            <a:ext cx="2495722" cy="127878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0" dirty="0">
                <a:latin typeface="Consolas"/>
                <a:ea typeface="Consolas"/>
                <a:cs typeface="Consolas"/>
                <a:sym typeface="Consolas"/>
              </a:rPr>
              <a:t>Write Use Case textual descriptions</a:t>
            </a:r>
          </a:p>
        </p:txBody>
      </p:sp>
    </p:spTree>
    <p:extLst>
      <p:ext uri="{BB962C8B-B14F-4D97-AF65-F5344CB8AC3E}">
        <p14:creationId xmlns:p14="http://schemas.microsoft.com/office/powerpoint/2010/main" val="1366169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BE84C0FB-1C60-84AF-6691-55FF50FF9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5">
            <a:extLst>
              <a:ext uri="{FF2B5EF4-FFF2-40B4-BE49-F238E27FC236}">
                <a16:creationId xmlns:a16="http://schemas.microsoft.com/office/drawing/2014/main" id="{A864A88E-B8D4-01A7-024E-AF4A124ABB11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EE2FF858-B023-ECA6-C046-9EA6220C41D5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Student ID</a:t>
            </a:r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00069E02-7D9A-96F3-4DFC-9FF44BB1E5A9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Story</a:t>
            </a:r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8EFD508D-36DB-A56D-229B-8FB53C058635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To Do</a:t>
            </a:r>
          </a:p>
        </p:txBody>
      </p:sp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E93EA7E4-FB63-2A3E-447E-116F7E1C960C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Doing</a:t>
            </a:r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85436B66-D76F-9A2A-8C82-DF954B09FB3E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Review</a:t>
            </a:r>
          </a:p>
        </p:txBody>
      </p: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48C319B6-5AE2-9B92-45BA-C97FB46097FA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Done</a:t>
            </a:r>
          </a:p>
        </p:txBody>
      </p:sp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A59677B0-6F82-F473-1D85-34CB5AF4D722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Backlog</a:t>
            </a:r>
          </a:p>
        </p:txBody>
      </p: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FBA8971F-5A0B-8ACE-3F6B-B648D2E29E4F}"/>
              </a:ext>
            </a:extLst>
          </p:cNvPr>
          <p:cNvSpPr/>
          <p:nvPr/>
        </p:nvSpPr>
        <p:spPr>
          <a:xfrm>
            <a:off x="3211113" y="539700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Everyone</a:t>
            </a:r>
          </a:p>
        </p:txBody>
      </p:sp>
      <p:sp>
        <p:nvSpPr>
          <p:cNvPr id="3" name="Google Shape;90;p15">
            <a:extLst>
              <a:ext uri="{FF2B5EF4-FFF2-40B4-BE49-F238E27FC236}">
                <a16:creationId xmlns:a16="http://schemas.microsoft.com/office/drawing/2014/main" id="{E979E80A-B135-19A9-6C25-D1967AC1FCA0}"/>
              </a:ext>
            </a:extLst>
          </p:cNvPr>
          <p:cNvSpPr/>
          <p:nvPr/>
        </p:nvSpPr>
        <p:spPr>
          <a:xfrm>
            <a:off x="18668888" y="849419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T2: Everyone: Playing the game so we can experience the user’s needs.</a:t>
            </a:r>
          </a:p>
        </p:txBody>
      </p:sp>
      <p:sp>
        <p:nvSpPr>
          <p:cNvPr id="2" name="Google Shape;88;p15">
            <a:extLst>
              <a:ext uri="{FF2B5EF4-FFF2-40B4-BE49-F238E27FC236}">
                <a16:creationId xmlns:a16="http://schemas.microsoft.com/office/drawing/2014/main" id="{AD75B602-BA70-01EB-61CB-E483C414A7B5}"/>
              </a:ext>
            </a:extLst>
          </p:cNvPr>
          <p:cNvSpPr/>
          <p:nvPr/>
        </p:nvSpPr>
        <p:spPr>
          <a:xfrm>
            <a:off x="18668888" y="1957876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T1: Make 3 User Stories</a:t>
            </a:r>
          </a:p>
        </p:txBody>
      </p:sp>
      <p:sp>
        <p:nvSpPr>
          <p:cNvPr id="88" name="Google Shape;88;p15">
            <a:extLst>
              <a:ext uri="{FF2B5EF4-FFF2-40B4-BE49-F238E27FC236}">
                <a16:creationId xmlns:a16="http://schemas.microsoft.com/office/drawing/2014/main" id="{7FE001FE-1592-8482-0694-98FB509940BE}"/>
              </a:ext>
            </a:extLst>
          </p:cNvPr>
          <p:cNvSpPr/>
          <p:nvPr/>
        </p:nvSpPr>
        <p:spPr>
          <a:xfrm>
            <a:off x="18668888" y="2681513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0" dirty="0">
                <a:latin typeface="Consolas"/>
                <a:ea typeface="Consolas"/>
                <a:cs typeface="Consolas"/>
                <a:sym typeface="Consolas"/>
              </a:rPr>
              <a:t>Find code smells</a:t>
            </a:r>
          </a:p>
        </p:txBody>
      </p:sp>
      <p:cxnSp>
        <p:nvCxnSpPr>
          <p:cNvPr id="91" name="Google Shape;91;p15">
            <a:extLst>
              <a:ext uri="{FF2B5EF4-FFF2-40B4-BE49-F238E27FC236}">
                <a16:creationId xmlns:a16="http://schemas.microsoft.com/office/drawing/2014/main" id="{3347729E-037E-3328-BA03-BA3B80AF063D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88;p15">
            <a:extLst>
              <a:ext uri="{FF2B5EF4-FFF2-40B4-BE49-F238E27FC236}">
                <a16:creationId xmlns:a16="http://schemas.microsoft.com/office/drawing/2014/main" id="{49ADF3DD-C448-7ED2-FBF5-DA67E88C592E}"/>
              </a:ext>
            </a:extLst>
          </p:cNvPr>
          <p:cNvSpPr/>
          <p:nvPr/>
        </p:nvSpPr>
        <p:spPr>
          <a:xfrm>
            <a:off x="405410" y="694221"/>
            <a:ext cx="1867580" cy="3160613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noProof="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US 3:</a:t>
            </a:r>
            <a:r>
              <a:rPr lang="en-US" noProof="0" dirty="0">
                <a:latin typeface="Consolas" panose="020B0609020204030204" pitchFamily="49" charset="0"/>
              </a:rPr>
              <a:t>As a player brand new to Mindustry, I want a more intuitive game tutorial so that I don't get lost and demotivated</a:t>
            </a:r>
            <a:r>
              <a:rPr lang="en-US" noProof="0" dirty="0"/>
              <a:t>.</a:t>
            </a: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Google Shape;88;p15">
            <a:extLst>
              <a:ext uri="{FF2B5EF4-FFF2-40B4-BE49-F238E27FC236}">
                <a16:creationId xmlns:a16="http://schemas.microsoft.com/office/drawing/2014/main" id="{2D13B3A7-C12F-89AE-16EA-87E81A1068FE}"/>
              </a:ext>
            </a:extLst>
          </p:cNvPr>
          <p:cNvSpPr/>
          <p:nvPr/>
        </p:nvSpPr>
        <p:spPr>
          <a:xfrm>
            <a:off x="438912" y="4038458"/>
            <a:ext cx="1867552" cy="282631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>
                <a:latin typeface="Consolas"/>
                <a:ea typeface="Consolas"/>
                <a:cs typeface="Consolas"/>
                <a:sym typeface="Consolas"/>
              </a:rPr>
              <a:t>US 2: As an experienced player I want to have a greater diversity of towers that can help me automate the way I defend orders.</a:t>
            </a:r>
            <a:endParaRPr lang="en-US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Google Shape;88;p15">
            <a:extLst>
              <a:ext uri="{FF2B5EF4-FFF2-40B4-BE49-F238E27FC236}">
                <a16:creationId xmlns:a16="http://schemas.microsoft.com/office/drawing/2014/main" id="{2882A98C-FC5E-E8C5-3B1D-3CC8FB357406}"/>
              </a:ext>
            </a:extLst>
          </p:cNvPr>
          <p:cNvSpPr/>
          <p:nvPr/>
        </p:nvSpPr>
        <p:spPr>
          <a:xfrm>
            <a:off x="405410" y="6982925"/>
            <a:ext cx="1867580" cy="373252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noProof="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US 1: </a:t>
            </a:r>
            <a:r>
              <a:rPr lang="en-US" dirty="0">
                <a:latin typeface="Consolas" panose="020B0609020204030204" pitchFamily="49" charset="0"/>
              </a:rPr>
              <a:t>As a player, I want to be able to place customizable markers on the map to identify important areas, so that I can better organize my base and communicate with myself throughout the game.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Google Shape;88;p15">
            <a:extLst>
              <a:ext uri="{FF2B5EF4-FFF2-40B4-BE49-F238E27FC236}">
                <a16:creationId xmlns:a16="http://schemas.microsoft.com/office/drawing/2014/main" id="{91DEA5CC-9A4C-EB9F-798E-B646821D1046}"/>
              </a:ext>
            </a:extLst>
          </p:cNvPr>
          <p:cNvSpPr/>
          <p:nvPr/>
        </p:nvSpPr>
        <p:spPr>
          <a:xfrm>
            <a:off x="18668888" y="3606376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0" dirty="0">
                <a:latin typeface="Consolas"/>
                <a:ea typeface="Consolas"/>
                <a:cs typeface="Consolas"/>
                <a:sym typeface="Consolas"/>
              </a:rPr>
              <a:t>Identify Design Patterns</a:t>
            </a:r>
          </a:p>
        </p:txBody>
      </p:sp>
      <p:sp>
        <p:nvSpPr>
          <p:cNvPr id="7" name="Google Shape;88;p15">
            <a:extLst>
              <a:ext uri="{FF2B5EF4-FFF2-40B4-BE49-F238E27FC236}">
                <a16:creationId xmlns:a16="http://schemas.microsoft.com/office/drawing/2014/main" id="{4ED083E5-1283-1692-6092-92F433A60CC3}"/>
              </a:ext>
            </a:extLst>
          </p:cNvPr>
          <p:cNvSpPr/>
          <p:nvPr/>
        </p:nvSpPr>
        <p:spPr>
          <a:xfrm>
            <a:off x="18667368" y="4794728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0" dirty="0">
                <a:latin typeface="Consolas"/>
                <a:ea typeface="Consolas"/>
                <a:cs typeface="Consolas"/>
                <a:sym typeface="Consolas"/>
              </a:rPr>
              <a:t>Create Use Case Diagrams</a:t>
            </a:r>
          </a:p>
        </p:txBody>
      </p:sp>
      <p:sp>
        <p:nvSpPr>
          <p:cNvPr id="12" name="Google Shape;90;p15">
            <a:extLst>
              <a:ext uri="{FF2B5EF4-FFF2-40B4-BE49-F238E27FC236}">
                <a16:creationId xmlns:a16="http://schemas.microsoft.com/office/drawing/2014/main" id="{C61F0316-30DB-4629-063C-BB76FE2F67FF}"/>
              </a:ext>
            </a:extLst>
          </p:cNvPr>
          <p:cNvSpPr/>
          <p:nvPr/>
        </p:nvSpPr>
        <p:spPr>
          <a:xfrm>
            <a:off x="18665848" y="5815877"/>
            <a:ext cx="2410800" cy="2184131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Consolas"/>
                <a:ea typeface="Consolas"/>
                <a:cs typeface="Consolas"/>
                <a:sym typeface="Consolas"/>
              </a:rPr>
              <a:t>Write Codebase Metrics Assessment report</a:t>
            </a:r>
            <a:endParaRPr lang="en-US" sz="2000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" name="Google Shape;90;p15">
            <a:extLst>
              <a:ext uri="{FF2B5EF4-FFF2-40B4-BE49-F238E27FC236}">
                <a16:creationId xmlns:a16="http://schemas.microsoft.com/office/drawing/2014/main" id="{17683F4A-6191-0928-B54B-49106C2EE7EE}"/>
              </a:ext>
            </a:extLst>
          </p:cNvPr>
          <p:cNvSpPr/>
          <p:nvPr/>
        </p:nvSpPr>
        <p:spPr>
          <a:xfrm>
            <a:off x="15447483" y="1040087"/>
            <a:ext cx="2495724" cy="164142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Consolas"/>
                <a:ea typeface="Consolas"/>
                <a:cs typeface="Consolas"/>
                <a:sym typeface="Consolas"/>
              </a:rPr>
              <a:t>Update all User Stories with final functionalities</a:t>
            </a:r>
            <a:endParaRPr lang="en-US" sz="2000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90;p15">
            <a:extLst>
              <a:ext uri="{FF2B5EF4-FFF2-40B4-BE49-F238E27FC236}">
                <a16:creationId xmlns:a16="http://schemas.microsoft.com/office/drawing/2014/main" id="{2E1BD46C-47AE-2D6B-0B79-8296C38E32A0}"/>
              </a:ext>
            </a:extLst>
          </p:cNvPr>
          <p:cNvSpPr/>
          <p:nvPr/>
        </p:nvSpPr>
        <p:spPr>
          <a:xfrm>
            <a:off x="15447479" y="2881759"/>
            <a:ext cx="2495723" cy="1561107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0" dirty="0">
                <a:latin typeface="Consolas"/>
                <a:ea typeface="Consolas"/>
                <a:cs typeface="Consolas"/>
                <a:sym typeface="Consolas"/>
              </a:rPr>
              <a:t>Create User Cases Diagrams for each User Story</a:t>
            </a:r>
          </a:p>
        </p:txBody>
      </p:sp>
      <p:sp>
        <p:nvSpPr>
          <p:cNvPr id="13" name="Google Shape;90;p15">
            <a:extLst>
              <a:ext uri="{FF2B5EF4-FFF2-40B4-BE49-F238E27FC236}">
                <a16:creationId xmlns:a16="http://schemas.microsoft.com/office/drawing/2014/main" id="{C4588FD3-9F45-91C1-7C76-9A9AC16924FF}"/>
              </a:ext>
            </a:extLst>
          </p:cNvPr>
          <p:cNvSpPr/>
          <p:nvPr/>
        </p:nvSpPr>
        <p:spPr>
          <a:xfrm>
            <a:off x="15447480" y="4757610"/>
            <a:ext cx="2495722" cy="127878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0" dirty="0">
                <a:latin typeface="Consolas"/>
                <a:ea typeface="Consolas"/>
                <a:cs typeface="Consolas"/>
                <a:sym typeface="Consolas"/>
              </a:rPr>
              <a:t>Write Use Case textual descriptions</a:t>
            </a:r>
          </a:p>
        </p:txBody>
      </p:sp>
    </p:spTree>
    <p:extLst>
      <p:ext uri="{BB962C8B-B14F-4D97-AF65-F5344CB8AC3E}">
        <p14:creationId xmlns:p14="http://schemas.microsoft.com/office/powerpoint/2010/main" val="2292667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EFF4632C-12E5-5F1B-EEE6-2647CD5AC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5">
            <a:extLst>
              <a:ext uri="{FF2B5EF4-FFF2-40B4-BE49-F238E27FC236}">
                <a16:creationId xmlns:a16="http://schemas.microsoft.com/office/drawing/2014/main" id="{1867B03D-BB23-5A05-1A3F-8E6CAAB1975F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860C2D07-63A7-BA08-3634-3EE36FE21E5A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Student ID</a:t>
            </a:r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4377A6DC-027B-C6A6-C495-7B01452146EB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Story</a:t>
            </a:r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CFAE2648-A0BB-655D-787D-53549488D146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To Do</a:t>
            </a:r>
          </a:p>
        </p:txBody>
      </p:sp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F74D4F72-BD18-7E30-5097-F4A479533D8C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Doing</a:t>
            </a:r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F048C320-4E84-B759-C4E9-37B20D22EF3E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Review</a:t>
            </a:r>
          </a:p>
        </p:txBody>
      </p: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3290ADDC-E3FA-25C4-944B-1B1209BAD4BE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Done</a:t>
            </a:r>
          </a:p>
        </p:txBody>
      </p:sp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FAB91ADC-93AB-A024-58DB-AAB2AD6B2A3F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Backlog</a:t>
            </a:r>
          </a:p>
        </p:txBody>
      </p: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E4124284-B691-E7C5-7027-A5C43A2F8C26}"/>
              </a:ext>
            </a:extLst>
          </p:cNvPr>
          <p:cNvSpPr/>
          <p:nvPr/>
        </p:nvSpPr>
        <p:spPr>
          <a:xfrm>
            <a:off x="3211113" y="539700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Everyone</a:t>
            </a:r>
          </a:p>
        </p:txBody>
      </p:sp>
      <p:sp>
        <p:nvSpPr>
          <p:cNvPr id="3" name="Google Shape;90;p15">
            <a:extLst>
              <a:ext uri="{FF2B5EF4-FFF2-40B4-BE49-F238E27FC236}">
                <a16:creationId xmlns:a16="http://schemas.microsoft.com/office/drawing/2014/main" id="{D6B5B80B-24A1-53F6-EBBB-3C54BA6D9989}"/>
              </a:ext>
            </a:extLst>
          </p:cNvPr>
          <p:cNvSpPr/>
          <p:nvPr/>
        </p:nvSpPr>
        <p:spPr>
          <a:xfrm>
            <a:off x="18668888" y="849419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T2: Everyone: Playing the game so we can experience the user’s needs.</a:t>
            </a:r>
          </a:p>
        </p:txBody>
      </p:sp>
      <p:sp>
        <p:nvSpPr>
          <p:cNvPr id="2" name="Google Shape;88;p15">
            <a:extLst>
              <a:ext uri="{FF2B5EF4-FFF2-40B4-BE49-F238E27FC236}">
                <a16:creationId xmlns:a16="http://schemas.microsoft.com/office/drawing/2014/main" id="{DF93BF57-2751-1FE9-AB37-F54F0875D414}"/>
              </a:ext>
            </a:extLst>
          </p:cNvPr>
          <p:cNvSpPr/>
          <p:nvPr/>
        </p:nvSpPr>
        <p:spPr>
          <a:xfrm>
            <a:off x="18668888" y="1957876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T1: Make 3 User Stories</a:t>
            </a:r>
          </a:p>
        </p:txBody>
      </p:sp>
      <p:sp>
        <p:nvSpPr>
          <p:cNvPr id="88" name="Google Shape;88;p15">
            <a:extLst>
              <a:ext uri="{FF2B5EF4-FFF2-40B4-BE49-F238E27FC236}">
                <a16:creationId xmlns:a16="http://schemas.microsoft.com/office/drawing/2014/main" id="{1E4BEFD9-7A65-54FF-9E47-4BEC55A489D9}"/>
              </a:ext>
            </a:extLst>
          </p:cNvPr>
          <p:cNvSpPr/>
          <p:nvPr/>
        </p:nvSpPr>
        <p:spPr>
          <a:xfrm>
            <a:off x="18668887" y="2681513"/>
            <a:ext cx="2491725" cy="110155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0" dirty="0">
                <a:latin typeface="Consolas"/>
                <a:ea typeface="Consolas"/>
                <a:cs typeface="Consolas"/>
                <a:sym typeface="Consolas"/>
              </a:rPr>
              <a:t>Find code smells</a:t>
            </a:r>
          </a:p>
        </p:txBody>
      </p:sp>
      <p:cxnSp>
        <p:nvCxnSpPr>
          <p:cNvPr id="91" name="Google Shape;91;p15">
            <a:extLst>
              <a:ext uri="{FF2B5EF4-FFF2-40B4-BE49-F238E27FC236}">
                <a16:creationId xmlns:a16="http://schemas.microsoft.com/office/drawing/2014/main" id="{3B494082-AC3C-B415-C7BF-13CD6523EE94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88;p15">
            <a:extLst>
              <a:ext uri="{FF2B5EF4-FFF2-40B4-BE49-F238E27FC236}">
                <a16:creationId xmlns:a16="http://schemas.microsoft.com/office/drawing/2014/main" id="{7F94F72F-FFE1-BB9C-7249-9474B757C04B}"/>
              </a:ext>
            </a:extLst>
          </p:cNvPr>
          <p:cNvSpPr/>
          <p:nvPr/>
        </p:nvSpPr>
        <p:spPr>
          <a:xfrm>
            <a:off x="405410" y="694221"/>
            <a:ext cx="1867580" cy="3160613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noProof="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US 3:</a:t>
            </a:r>
            <a:r>
              <a:rPr lang="en-US" noProof="0" dirty="0">
                <a:latin typeface="Consolas" panose="020B0609020204030204" pitchFamily="49" charset="0"/>
              </a:rPr>
              <a:t>As a player brand new to Mindustry, I want a more intuitive game tutorial so that I don't get lost and demotivated</a:t>
            </a:r>
            <a:r>
              <a:rPr lang="en-US" noProof="0" dirty="0"/>
              <a:t>.</a:t>
            </a: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Google Shape;88;p15">
            <a:extLst>
              <a:ext uri="{FF2B5EF4-FFF2-40B4-BE49-F238E27FC236}">
                <a16:creationId xmlns:a16="http://schemas.microsoft.com/office/drawing/2014/main" id="{EC0C8B9B-439F-3D03-959B-A47D39DB2B9E}"/>
              </a:ext>
            </a:extLst>
          </p:cNvPr>
          <p:cNvSpPr/>
          <p:nvPr/>
        </p:nvSpPr>
        <p:spPr>
          <a:xfrm>
            <a:off x="438912" y="4038458"/>
            <a:ext cx="1867552" cy="282631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>
                <a:latin typeface="Consolas"/>
                <a:ea typeface="Consolas"/>
                <a:cs typeface="Consolas"/>
                <a:sym typeface="Consolas"/>
              </a:rPr>
              <a:t>US 2: As an experienced player I want to have a greater diversity of towers that can help me automate the way I defend orders.</a:t>
            </a:r>
            <a:endParaRPr lang="en-US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Google Shape;88;p15">
            <a:extLst>
              <a:ext uri="{FF2B5EF4-FFF2-40B4-BE49-F238E27FC236}">
                <a16:creationId xmlns:a16="http://schemas.microsoft.com/office/drawing/2014/main" id="{DED93B11-548D-D174-5833-37EBA620F900}"/>
              </a:ext>
            </a:extLst>
          </p:cNvPr>
          <p:cNvSpPr/>
          <p:nvPr/>
        </p:nvSpPr>
        <p:spPr>
          <a:xfrm>
            <a:off x="405410" y="6982925"/>
            <a:ext cx="1867580" cy="373252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noProof="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US 1: </a:t>
            </a:r>
            <a:r>
              <a:rPr lang="en-US" dirty="0">
                <a:latin typeface="Consolas" panose="020B0609020204030204" pitchFamily="49" charset="0"/>
              </a:rPr>
              <a:t>As a player, I want to be able to place customizable markers on the map to identify important areas, so that I can better organize my base and communicate with myself throughout the game.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Google Shape;88;p15">
            <a:extLst>
              <a:ext uri="{FF2B5EF4-FFF2-40B4-BE49-F238E27FC236}">
                <a16:creationId xmlns:a16="http://schemas.microsoft.com/office/drawing/2014/main" id="{DCA582F6-E609-FE05-BB48-9B07CD353624}"/>
              </a:ext>
            </a:extLst>
          </p:cNvPr>
          <p:cNvSpPr/>
          <p:nvPr/>
        </p:nvSpPr>
        <p:spPr>
          <a:xfrm>
            <a:off x="18668887" y="3606376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0" dirty="0">
                <a:latin typeface="Consolas"/>
                <a:ea typeface="Consolas"/>
                <a:cs typeface="Consolas"/>
                <a:sym typeface="Consolas"/>
              </a:rPr>
              <a:t>Identify Design Patterns</a:t>
            </a:r>
          </a:p>
        </p:txBody>
      </p:sp>
      <p:sp>
        <p:nvSpPr>
          <p:cNvPr id="7" name="Google Shape;88;p15">
            <a:extLst>
              <a:ext uri="{FF2B5EF4-FFF2-40B4-BE49-F238E27FC236}">
                <a16:creationId xmlns:a16="http://schemas.microsoft.com/office/drawing/2014/main" id="{670FFF8F-E03D-18D8-36D0-A1281042B0C1}"/>
              </a:ext>
            </a:extLst>
          </p:cNvPr>
          <p:cNvSpPr/>
          <p:nvPr/>
        </p:nvSpPr>
        <p:spPr>
          <a:xfrm>
            <a:off x="18667368" y="4330013"/>
            <a:ext cx="249324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0" dirty="0">
                <a:latin typeface="Consolas"/>
                <a:ea typeface="Consolas"/>
                <a:cs typeface="Consolas"/>
                <a:sym typeface="Consolas"/>
              </a:rPr>
              <a:t>Create Use Case Diagrams</a:t>
            </a:r>
          </a:p>
        </p:txBody>
      </p:sp>
      <p:sp>
        <p:nvSpPr>
          <p:cNvPr id="12" name="Google Shape;90;p15">
            <a:extLst>
              <a:ext uri="{FF2B5EF4-FFF2-40B4-BE49-F238E27FC236}">
                <a16:creationId xmlns:a16="http://schemas.microsoft.com/office/drawing/2014/main" id="{83063A9D-28A1-0459-7E2C-0D90F1888991}"/>
              </a:ext>
            </a:extLst>
          </p:cNvPr>
          <p:cNvSpPr/>
          <p:nvPr/>
        </p:nvSpPr>
        <p:spPr>
          <a:xfrm>
            <a:off x="18633868" y="5145491"/>
            <a:ext cx="2560243" cy="1464818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Consolas"/>
                <a:ea typeface="Consolas"/>
                <a:cs typeface="Consolas"/>
                <a:sym typeface="Consolas"/>
              </a:rPr>
              <a:t>Write Codebase Metrics Assessment report</a:t>
            </a:r>
            <a:endParaRPr lang="en-US" sz="2000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" name="Google Shape;90;p15">
            <a:extLst>
              <a:ext uri="{FF2B5EF4-FFF2-40B4-BE49-F238E27FC236}">
                <a16:creationId xmlns:a16="http://schemas.microsoft.com/office/drawing/2014/main" id="{72F50995-FE98-C3B4-173F-5ADB79D7E85F}"/>
              </a:ext>
            </a:extLst>
          </p:cNvPr>
          <p:cNvSpPr/>
          <p:nvPr/>
        </p:nvSpPr>
        <p:spPr>
          <a:xfrm>
            <a:off x="18632346" y="6545229"/>
            <a:ext cx="2495724" cy="164142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Consolas"/>
                <a:ea typeface="Consolas"/>
                <a:cs typeface="Consolas"/>
                <a:sym typeface="Consolas"/>
              </a:rPr>
              <a:t>Update all User Stories with final functionalities</a:t>
            </a:r>
            <a:endParaRPr lang="en-US" sz="2000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90;p15">
            <a:extLst>
              <a:ext uri="{FF2B5EF4-FFF2-40B4-BE49-F238E27FC236}">
                <a16:creationId xmlns:a16="http://schemas.microsoft.com/office/drawing/2014/main" id="{79AAAC9D-DED0-EA39-7897-9ABF0DA4E4BE}"/>
              </a:ext>
            </a:extLst>
          </p:cNvPr>
          <p:cNvSpPr/>
          <p:nvPr/>
        </p:nvSpPr>
        <p:spPr>
          <a:xfrm>
            <a:off x="18683637" y="7987970"/>
            <a:ext cx="2495723" cy="1561107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0" dirty="0">
                <a:latin typeface="Consolas"/>
                <a:ea typeface="Consolas"/>
                <a:cs typeface="Consolas"/>
                <a:sym typeface="Consolas"/>
              </a:rPr>
              <a:t>Create User Cases Diagrams for each User Story</a:t>
            </a:r>
          </a:p>
        </p:txBody>
      </p:sp>
      <p:sp>
        <p:nvSpPr>
          <p:cNvPr id="13" name="Google Shape;90;p15">
            <a:extLst>
              <a:ext uri="{FF2B5EF4-FFF2-40B4-BE49-F238E27FC236}">
                <a16:creationId xmlns:a16="http://schemas.microsoft.com/office/drawing/2014/main" id="{1C4A8819-3A7D-EDB1-D8D1-E30F31E20E05}"/>
              </a:ext>
            </a:extLst>
          </p:cNvPr>
          <p:cNvSpPr/>
          <p:nvPr/>
        </p:nvSpPr>
        <p:spPr>
          <a:xfrm>
            <a:off x="18683638" y="9436671"/>
            <a:ext cx="2495722" cy="127878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0" dirty="0">
                <a:latin typeface="Consolas"/>
                <a:ea typeface="Consolas"/>
                <a:cs typeface="Consolas"/>
                <a:sym typeface="Consolas"/>
              </a:rPr>
              <a:t>Write Use Case textual descriptions</a:t>
            </a:r>
          </a:p>
        </p:txBody>
      </p:sp>
    </p:spTree>
    <p:extLst>
      <p:ext uri="{BB962C8B-B14F-4D97-AF65-F5344CB8AC3E}">
        <p14:creationId xmlns:p14="http://schemas.microsoft.com/office/powerpoint/2010/main" val="104080434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642</Words>
  <Application>Microsoft Office PowerPoint</Application>
  <PresentationFormat>Personalizar</PresentationFormat>
  <Paragraphs>81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9" baseType="lpstr">
      <vt:lpstr>Arial</vt:lpstr>
      <vt:lpstr>Consolas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Leandro Rodrigues</dc:creator>
  <cp:lastModifiedBy>Leandro Marques da Silva Rodrigues</cp:lastModifiedBy>
  <cp:revision>12</cp:revision>
  <dcterms:modified xsi:type="dcterms:W3CDTF">2025-11-16T18:40:21Z</dcterms:modified>
</cp:coreProperties>
</file>